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5E5"/>
    <a:srgbClr val="FFCDCD"/>
    <a:srgbClr val="F0F2F4"/>
    <a:srgbClr val="B027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0" autoAdjust="0"/>
    <p:restoredTop sz="95343" autoAdjust="0"/>
  </p:normalViewPr>
  <p:slideViewPr>
    <p:cSldViewPr snapToGrid="0">
      <p:cViewPr varScale="1">
        <p:scale>
          <a:sx n="88" d="100"/>
          <a:sy n="88" d="100"/>
        </p:scale>
        <p:origin x="40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12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EC2FE-7B8D-4128-91F0-B9FC9449585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E9909C-93E5-49BB-AD42-773C10452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936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“Hello everyone.</a:t>
            </a:r>
            <a:br>
              <a:rPr lang="en-US" dirty="0" smtClean="0"/>
            </a:br>
            <a:r>
              <a:rPr lang="en-US" dirty="0" smtClean="0"/>
              <a:t>Today I will be presenting our Credit Card Fraud Detection System developed for </a:t>
            </a:r>
            <a:r>
              <a:rPr lang="en-US" dirty="0" err="1" smtClean="0"/>
              <a:t>Finex</a:t>
            </a:r>
            <a:r>
              <a:rPr lang="en-US" dirty="0" smtClean="0"/>
              <a:t> Bank.</a:t>
            </a:r>
          </a:p>
          <a:p>
            <a:r>
              <a:rPr lang="en-US" dirty="0" smtClean="0"/>
              <a:t>This project focuses on building a machine learning solution that reduces financial losses caused by fraudulent transactions while maintaining operational efficiency.”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9909C-93E5-49BB-AD42-773C10452E2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78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“Fraudulent transactions, although only about 0.59% of total transactions, cause significant financial damage.</a:t>
            </a:r>
          </a:p>
          <a:p>
            <a:r>
              <a:rPr lang="en-US" dirty="0" smtClean="0"/>
              <a:t>Before deploying any model, the bank refunded the full transaction amount for every fraud case.</a:t>
            </a:r>
          </a:p>
          <a:p>
            <a:r>
              <a:rPr lang="en-US" dirty="0" smtClean="0"/>
              <a:t>On average, this resulted in a monthly loss of approximately $207,917.</a:t>
            </a:r>
          </a:p>
          <a:p>
            <a:r>
              <a:rPr lang="en-US" dirty="0" smtClean="0"/>
              <a:t>Our goal was to reduce this loss using predictive modeling.”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9909C-93E5-49BB-AD42-773C10452E2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715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“The main objectives of this project were:</a:t>
            </a:r>
          </a:p>
          <a:p>
            <a:r>
              <a:rPr lang="en-US" dirty="0" smtClean="0"/>
              <a:t>First, to minimize financial loss due to fraud.</a:t>
            </a:r>
            <a:br>
              <a:rPr lang="en-US" dirty="0" smtClean="0"/>
            </a:br>
            <a:r>
              <a:rPr lang="en-US" dirty="0" smtClean="0"/>
              <a:t>Second, to build a high-performing fraud detection model.</a:t>
            </a:r>
            <a:br>
              <a:rPr lang="en-US" dirty="0" smtClean="0"/>
            </a:br>
            <a:r>
              <a:rPr lang="en-US" dirty="0" smtClean="0"/>
              <a:t>Third, to maximize fraud recall while maintaining acceptable precision.</a:t>
            </a:r>
            <a:br>
              <a:rPr lang="en-US" dirty="0" smtClean="0"/>
            </a:br>
            <a:r>
              <a:rPr lang="en-US" dirty="0" smtClean="0"/>
              <a:t>And finally, to ensure strong performance on completely unseen external data.”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9909C-93E5-49BB-AD42-773C10452E2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197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“We followed a structured pipeline:</a:t>
            </a:r>
          </a:p>
          <a:p>
            <a:r>
              <a:rPr lang="en-US" dirty="0" smtClean="0"/>
              <a:t>We started with data cleaning and preprocessing.</a:t>
            </a:r>
            <a:br>
              <a:rPr lang="en-US" dirty="0" smtClean="0"/>
            </a:br>
            <a:r>
              <a:rPr lang="en-US" dirty="0" smtClean="0"/>
              <a:t>Then performed exploratory data analysis to understand fraud patterns.</a:t>
            </a:r>
            <a:br>
              <a:rPr lang="en-US" dirty="0" smtClean="0"/>
            </a:br>
            <a:r>
              <a:rPr lang="en-US" dirty="0" smtClean="0"/>
              <a:t>We engineered meaningful features to improve prediction power.</a:t>
            </a:r>
            <a:br>
              <a:rPr lang="en-US" dirty="0" smtClean="0"/>
            </a:br>
            <a:r>
              <a:rPr lang="en-US" dirty="0" smtClean="0"/>
              <a:t>Handled severe class imbalance.</a:t>
            </a:r>
            <a:br>
              <a:rPr lang="en-US" dirty="0" smtClean="0"/>
            </a:br>
            <a:r>
              <a:rPr lang="en-US" dirty="0" smtClean="0"/>
              <a:t>Built and tuned multiple models.</a:t>
            </a:r>
            <a:br>
              <a:rPr lang="en-US" dirty="0" smtClean="0"/>
            </a:br>
            <a:r>
              <a:rPr lang="en-US" dirty="0" smtClean="0"/>
              <a:t>And finally, validated the model externally and conducted a cost-benefit analysis.”</a:t>
            </a:r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9909C-93E5-49BB-AD42-773C10452E2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000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“Several interesting trends emerged during exploratory analysis:</a:t>
            </a:r>
          </a:p>
          <a:p>
            <a:r>
              <a:rPr lang="en-US" dirty="0" smtClean="0"/>
              <a:t>Fraud risk was significantly higher during night-time transactions.</a:t>
            </a:r>
            <a:br>
              <a:rPr lang="en-US" dirty="0" smtClean="0"/>
            </a:br>
            <a:r>
              <a:rPr lang="en-US" dirty="0" smtClean="0"/>
              <a:t>Transactions that deviated strongly from a customer's average spending were more likely to be fraudulent.</a:t>
            </a:r>
            <a:br>
              <a:rPr lang="en-US" dirty="0" smtClean="0"/>
            </a:br>
            <a:r>
              <a:rPr lang="en-US" dirty="0" smtClean="0"/>
              <a:t>Certain cities and job groups showed elevated fraud rates.</a:t>
            </a:r>
            <a:br>
              <a:rPr lang="en-US" dirty="0" smtClean="0"/>
            </a:br>
            <a:r>
              <a:rPr lang="en-US" dirty="0" smtClean="0"/>
              <a:t>And the geographical distance between merchant and customer also influenced fraud probability.</a:t>
            </a:r>
          </a:p>
          <a:p>
            <a:r>
              <a:rPr lang="en-US" dirty="0" smtClean="0"/>
              <a:t>These insights directly guided our feature engineering.”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9909C-93E5-49BB-AD42-773C10452E2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685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“Fraud cases made up only 0.59% of the dataset, creating a severe imbalance problem.</a:t>
            </a:r>
          </a:p>
          <a:p>
            <a:r>
              <a:rPr lang="en-US" dirty="0" smtClean="0"/>
              <a:t>We tested multiple approaches:</a:t>
            </a:r>
            <a:br>
              <a:rPr lang="en-US" dirty="0" smtClean="0"/>
            </a:br>
            <a:r>
              <a:rPr lang="en-US" dirty="0" smtClean="0"/>
              <a:t>Stratified K-Fold cross-validation,</a:t>
            </a:r>
            <a:br>
              <a:rPr lang="en-US" dirty="0" smtClean="0"/>
            </a:br>
            <a:r>
              <a:rPr lang="en-US" dirty="0" smtClean="0"/>
              <a:t>Oversampling,</a:t>
            </a:r>
            <a:br>
              <a:rPr lang="en-US" dirty="0" smtClean="0"/>
            </a:br>
            <a:r>
              <a:rPr lang="en-US" dirty="0" err="1" smtClean="0"/>
              <a:t>Undersampling</a:t>
            </a:r>
            <a:r>
              <a:rPr lang="en-US" dirty="0" smtClean="0"/>
              <a:t>,</a:t>
            </a:r>
            <a:br>
              <a:rPr lang="en-US" dirty="0" smtClean="0"/>
            </a:br>
            <a:r>
              <a:rPr lang="en-US" dirty="0" smtClean="0"/>
              <a:t>and class weighting.</a:t>
            </a:r>
          </a:p>
          <a:p>
            <a:r>
              <a:rPr lang="en-US" dirty="0" smtClean="0"/>
              <a:t>We also moved beyond accuracy because accuracy alone was misleading due to imbalance.</a:t>
            </a:r>
          </a:p>
          <a:p>
            <a:r>
              <a:rPr lang="en-US" dirty="0" smtClean="0"/>
              <a:t>Instead, ROC-AUC and recall were prioritized.”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9909C-93E5-49BB-AD42-773C10452E2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950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“We evaluated multiple models:</a:t>
            </a:r>
          </a:p>
          <a:p>
            <a:r>
              <a:rPr lang="en-US" dirty="0" smtClean="0"/>
              <a:t>Logistic Regression,</a:t>
            </a:r>
            <a:br>
              <a:rPr lang="en-US" dirty="0" smtClean="0"/>
            </a:br>
            <a:r>
              <a:rPr lang="en-US" dirty="0" smtClean="0"/>
              <a:t>Decision Tree,</a:t>
            </a:r>
            <a:br>
              <a:rPr lang="en-US" dirty="0" smtClean="0"/>
            </a:br>
            <a:r>
              <a:rPr lang="en-US" dirty="0" smtClean="0"/>
              <a:t>Random Forest,</a:t>
            </a:r>
            <a:br>
              <a:rPr lang="en-US" dirty="0" smtClean="0"/>
            </a:br>
            <a:r>
              <a:rPr lang="en-US" dirty="0" smtClean="0"/>
              <a:t>and </a:t>
            </a:r>
            <a:r>
              <a:rPr lang="en-US" dirty="0" err="1" smtClean="0"/>
              <a:t>XGBoost</a:t>
            </a:r>
            <a:r>
              <a:rPr lang="en-US" dirty="0" smtClean="0"/>
              <a:t>.</a:t>
            </a:r>
          </a:p>
          <a:p>
            <a:r>
              <a:rPr lang="en-US" dirty="0" smtClean="0"/>
              <a:t>Tree-based ensemble models clearly outperformed linear models.</a:t>
            </a:r>
          </a:p>
          <a:p>
            <a:r>
              <a:rPr lang="en-US" dirty="0" smtClean="0"/>
              <a:t>After </a:t>
            </a:r>
            <a:r>
              <a:rPr lang="en-US" dirty="0" err="1" smtClean="0"/>
              <a:t>hyperparameter</a:t>
            </a:r>
            <a:r>
              <a:rPr lang="en-US" dirty="0" smtClean="0"/>
              <a:t> tuning, </a:t>
            </a:r>
            <a:r>
              <a:rPr lang="en-US" dirty="0" err="1" smtClean="0"/>
              <a:t>XGBoost</a:t>
            </a:r>
            <a:r>
              <a:rPr lang="en-US" dirty="0" smtClean="0"/>
              <a:t> demonstrated the best overall balance between recall, precision, and ROC-AUC.</a:t>
            </a:r>
          </a:p>
          <a:p>
            <a:r>
              <a:rPr lang="en-US" dirty="0" smtClean="0"/>
              <a:t>Therefore, </a:t>
            </a:r>
            <a:r>
              <a:rPr lang="en-US" dirty="0" err="1" smtClean="0"/>
              <a:t>XGBoost</a:t>
            </a:r>
            <a:r>
              <a:rPr lang="en-US" dirty="0" smtClean="0"/>
              <a:t> was selected as the final model.”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9909C-93E5-49BB-AD42-773C10452E2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406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“On completely unseen external data, the </a:t>
            </a:r>
            <a:r>
              <a:rPr lang="en-US" dirty="0" err="1" smtClean="0"/>
              <a:t>XGBoost</a:t>
            </a:r>
            <a:r>
              <a:rPr lang="en-US" dirty="0" smtClean="0"/>
              <a:t> model achieved:</a:t>
            </a:r>
          </a:p>
          <a:p>
            <a:r>
              <a:rPr lang="en-US" dirty="0" smtClean="0"/>
              <a:t>A ROC-AUC of 0.9937,</a:t>
            </a:r>
            <a:br>
              <a:rPr lang="en-US" dirty="0" smtClean="0"/>
            </a:br>
            <a:r>
              <a:rPr lang="en-US" dirty="0" smtClean="0"/>
              <a:t>Fraud recall of 67%,</a:t>
            </a:r>
            <a:br>
              <a:rPr lang="en-US" dirty="0" smtClean="0"/>
            </a:br>
            <a:r>
              <a:rPr lang="en-US" dirty="0" smtClean="0"/>
              <a:t>Fraud precision of 67%.</a:t>
            </a:r>
          </a:p>
          <a:p>
            <a:r>
              <a:rPr lang="en-US" dirty="0" smtClean="0"/>
              <a:t>This indicates strong generalization ability and robustness beyond the training dataset.”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9909C-93E5-49BB-AD42-773C10452E2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6868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“Let’s now examine the financial impact.</a:t>
            </a:r>
          </a:p>
          <a:p>
            <a:r>
              <a:rPr lang="en-US" dirty="0" smtClean="0"/>
              <a:t>Before deploying the model, the average monthly fraud loss was $207,917.</a:t>
            </a:r>
          </a:p>
          <a:p>
            <a:r>
              <a:rPr lang="en-US" dirty="0" smtClean="0"/>
              <a:t>After deploying the model, including the cost of second-level authentication support, the total monthly cost reduces to $68,242.</a:t>
            </a:r>
          </a:p>
          <a:p>
            <a:r>
              <a:rPr lang="en-US" dirty="0" smtClean="0"/>
              <a:t>This results in a monthly savings of approximately $139,675.</a:t>
            </a:r>
          </a:p>
          <a:p>
            <a:r>
              <a:rPr lang="en-US" dirty="0" smtClean="0"/>
              <a:t>On an annual basis, this translates to roughly $1.67 million in savings.”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9909C-93E5-49BB-AD42-773C10452E2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763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“The model delivers:</a:t>
            </a:r>
          </a:p>
          <a:p>
            <a:r>
              <a:rPr lang="en-US" dirty="0" smtClean="0"/>
              <a:t>A 67% reduction in fraud losses.</a:t>
            </a:r>
            <a:br>
              <a:rPr lang="en-US" dirty="0" smtClean="0"/>
            </a:br>
            <a:r>
              <a:rPr lang="en-US" dirty="0" smtClean="0"/>
              <a:t>Strong return on investment.</a:t>
            </a:r>
            <a:br>
              <a:rPr lang="en-US" dirty="0" smtClean="0"/>
            </a:br>
            <a:r>
              <a:rPr lang="en-US" dirty="0" smtClean="0"/>
              <a:t>Minimal operational cost increase.</a:t>
            </a:r>
            <a:br>
              <a:rPr lang="en-US" dirty="0" smtClean="0"/>
            </a:br>
            <a:r>
              <a:rPr lang="en-US" dirty="0" smtClean="0"/>
              <a:t>Scalable deployment for real-time fraud monitoring.</a:t>
            </a:r>
          </a:p>
          <a:p>
            <a:r>
              <a:rPr lang="en-US" dirty="0" smtClean="0"/>
              <a:t>This significantly strengthens </a:t>
            </a:r>
            <a:r>
              <a:rPr lang="en-US" dirty="0" err="1" smtClean="0"/>
              <a:t>Finex</a:t>
            </a:r>
            <a:r>
              <a:rPr lang="en-US" dirty="0" smtClean="0"/>
              <a:t> Bank’s fraud risk management capabilities.”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9909C-93E5-49BB-AD42-773C10452E2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16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“We recommend:</a:t>
            </a:r>
          </a:p>
          <a:p>
            <a:r>
              <a:rPr lang="en-US" dirty="0" smtClean="0"/>
              <a:t>Deploying the </a:t>
            </a:r>
            <a:r>
              <a:rPr lang="en-US" dirty="0" err="1" smtClean="0"/>
              <a:t>XGBoost</a:t>
            </a:r>
            <a:r>
              <a:rPr lang="en-US" dirty="0" smtClean="0"/>
              <a:t> model into production.</a:t>
            </a:r>
            <a:br>
              <a:rPr lang="en-US" dirty="0" smtClean="0"/>
            </a:br>
            <a:r>
              <a:rPr lang="en-US" dirty="0" smtClean="0"/>
              <a:t>Using the optimized probability threshold for fraud detection.</a:t>
            </a:r>
            <a:br>
              <a:rPr lang="en-US" dirty="0" smtClean="0"/>
            </a:br>
            <a:r>
              <a:rPr lang="en-US" dirty="0" smtClean="0"/>
              <a:t>Monitoring fraud pattern drift monthly.</a:t>
            </a:r>
            <a:br>
              <a:rPr lang="en-US" dirty="0" smtClean="0"/>
            </a:br>
            <a:r>
              <a:rPr lang="en-US" dirty="0" smtClean="0"/>
              <a:t>Retraining the model quarterly to maintain performance.”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9909C-93E5-49BB-AD42-773C10452E2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7254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“In conclusion:</a:t>
            </a:r>
          </a:p>
          <a:p>
            <a:r>
              <a:rPr lang="en-US" dirty="0" smtClean="0"/>
              <a:t>We successfully developed a high-performing fraud detection system.</a:t>
            </a:r>
            <a:br>
              <a:rPr lang="en-US" dirty="0" smtClean="0"/>
            </a:br>
            <a:r>
              <a:rPr lang="en-US" dirty="0" smtClean="0"/>
              <a:t>The model demonstrates strong robustness and external validation performance.</a:t>
            </a:r>
            <a:br>
              <a:rPr lang="en-US" dirty="0" smtClean="0"/>
            </a:br>
            <a:r>
              <a:rPr lang="en-US" dirty="0" smtClean="0"/>
              <a:t>Most importantly, it provides substantial financial savings and clear business value.</a:t>
            </a:r>
          </a:p>
          <a:p>
            <a:r>
              <a:rPr lang="en-US" dirty="0" smtClean="0"/>
              <a:t>Thank you for your time.”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9909C-93E5-49BB-AD42-773C10452E2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56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A1E41-4A58-4F5C-AD66-13EF6003A987}" type="datetime1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E1C38-3CEC-4044-AA06-B8BB3A06D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29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C50CF-74B2-48E1-8164-85D4E47757E1}" type="datetime1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E1C38-3CEC-4044-AA06-B8BB3A06D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9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1DDA2-D8EA-4730-83FA-ECAF7942ADAA}" type="datetime1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E1C38-3CEC-4044-AA06-B8BB3A06D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89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95D6-7AAB-46C8-8E49-79346E6FB9F7}" type="datetime1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E1C38-3CEC-4044-AA06-B8BB3A06D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399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7C4A-56F5-4DCE-89E9-6EED8D95A677}" type="datetime1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E1C38-3CEC-4044-AA06-B8BB3A06D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03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0151-9C0C-4ED6-9E53-ADDD6C41832F}" type="datetime1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E1C38-3CEC-4044-AA06-B8BB3A06D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370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F6CF4-7B0D-4D71-962F-2B1B7EBC07EA}" type="datetime1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E1C38-3CEC-4044-AA06-B8BB3A06D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498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ED3B-ECB9-428A-B899-441E74DDA87B}" type="datetime1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E1C38-3CEC-4044-AA06-B8BB3A06D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153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8FB4-F47C-420A-8D88-7C769A401DD4}" type="datetime1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E1C38-3CEC-4044-AA06-B8BB3A06D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34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0F917-C649-4CE0-B78F-99E74E82DAD4}" type="datetime1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E1C38-3CEC-4044-AA06-B8BB3A06D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86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B629-7AD0-493C-AE2D-4F96CA0FE55E}" type="datetime1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E1C38-3CEC-4044-AA06-B8BB3A06D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432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4C09E-D08F-46E2-82F1-069F4B5B8518}" type="datetime1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E1C38-3CEC-4044-AA06-B8BB3A06D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16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5.png"/><Relationship Id="rId3" Type="http://schemas.openxmlformats.org/officeDocument/2006/relationships/image" Target="../media/image3.jpe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6.png"/><Relationship Id="rId10" Type="http://schemas.openxmlformats.org/officeDocument/2006/relationships/image" Target="../media/image19.png"/><Relationship Id="rId19" Type="http://schemas.openxmlformats.org/officeDocument/2006/relationships/image" Target="../media/image26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.jpe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.jpe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38.png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3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855" y="756603"/>
            <a:ext cx="9144000" cy="2387600"/>
          </a:xfrm>
        </p:spPr>
        <p:txBody>
          <a:bodyPr anchor="t">
            <a:normAutofit fontScale="90000"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Credit Card Fraud Detection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System</a:t>
            </a:r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br>
              <a:rPr lang="en-US" sz="2800" b="1" dirty="0" smtClean="0">
                <a:solidFill>
                  <a:schemeClr val="accent5">
                    <a:lumMod val="7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/>
            </a:r>
            <a:br>
              <a:rPr lang="en-US" b="1" dirty="0" smtClean="0">
                <a:solidFill>
                  <a:schemeClr val="accent5">
                    <a:lumMod val="7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en-US" sz="3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</a:t>
            </a:r>
            <a:r>
              <a:rPr lang="en-US" sz="31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achine </a:t>
            </a:r>
            <a:r>
              <a:rPr lang="en-US" sz="3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Learning-Based Risk Optimization for </a:t>
            </a:r>
            <a:r>
              <a:rPr lang="en-US" sz="3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Finex</a:t>
            </a:r>
            <a:r>
              <a:rPr lang="en-US" sz="3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Bank</a:t>
            </a:r>
            <a:endParaRPr lang="en-IN" sz="67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N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IN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Capstone Project 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submitted by: Tejashri </a:t>
            </a:r>
            <a:r>
              <a:rPr lang="en-IN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Pilla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Course: </a:t>
            </a:r>
            <a:r>
              <a:rPr lang="en-I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Executive </a:t>
            </a:r>
            <a:r>
              <a:rPr lang="en-IN" sz="1600" smtClean="0">
                <a:solidFill>
                  <a:schemeClr val="tx1">
                    <a:lumMod val="65000"/>
                    <a:lumOff val="35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PG in Machine </a:t>
            </a: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Learning &amp; AI (</a:t>
            </a:r>
            <a:r>
              <a:rPr lang="en-IN" sz="1600" dirty="0" err="1">
                <a:solidFill>
                  <a:schemeClr val="tx1">
                    <a:lumMod val="65000"/>
                    <a:lumOff val="35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UpGrad</a:t>
            </a: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&amp; IIITB</a:t>
            </a:r>
            <a:r>
              <a:rPr lang="en-I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)</a:t>
            </a:r>
            <a:endParaRPr lang="en-IN" sz="1600" dirty="0">
              <a:solidFill>
                <a:schemeClr val="tx1">
                  <a:lumMod val="65000"/>
                  <a:lumOff val="35000"/>
                </a:schemeClr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Institution: IIIT </a:t>
            </a:r>
            <a:r>
              <a:rPr lang="en-I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Bangalore – ML C72 batch, February, 2026</a:t>
            </a:r>
            <a:endParaRPr lang="en-IN" sz="1600" dirty="0">
              <a:solidFill>
                <a:schemeClr val="tx1">
                  <a:lumMod val="65000"/>
                  <a:lumOff val="35000"/>
                </a:schemeClr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en-IN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591175" y="2594610"/>
            <a:ext cx="1116330" cy="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5495109"/>
            <a:ext cx="12192000" cy="36576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400" dirty="0" smtClean="0"/>
              <a:t>Confidential</a:t>
            </a:r>
            <a:endParaRPr lang="en-IN" dirty="0"/>
          </a:p>
        </p:txBody>
      </p:sp>
      <p:pic>
        <p:nvPicPr>
          <p:cNvPr id="11" name="Picture 2" descr="Media Ki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14981"/>
            <a:ext cx="1334454" cy="943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D4E1C38-3CEC-4044-AA06-B8BB3A06D0A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2035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6995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IN" sz="3200" b="1" dirty="0" smtClean="0">
                <a:solidFill>
                  <a:schemeClr val="accent5">
                    <a:lumMod val="7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Business Problem</a:t>
            </a:r>
            <a:r>
              <a:rPr lang="en-IN" sz="2800" b="1" dirty="0" smtClean="0">
                <a:solidFill>
                  <a:schemeClr val="accent5">
                    <a:lumMod val="7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/>
            </a:r>
            <a:br>
              <a:rPr lang="en-IN" sz="2800" b="1" dirty="0" smtClean="0">
                <a:solidFill>
                  <a:schemeClr val="accent5">
                    <a:lumMod val="7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en-I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The Challenge </a:t>
            </a:r>
            <a:endParaRPr lang="en-IN" sz="20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FR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fr-FR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Fraudulent</a:t>
            </a:r>
            <a:r>
              <a:rPr lang="fr-FR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transactions cause </a:t>
            </a:r>
            <a:r>
              <a:rPr lang="fr-FR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heavy</a:t>
            </a:r>
            <a: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FR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financial</a:t>
            </a:r>
            <a: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FR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losses</a:t>
            </a:r>
            <a:r>
              <a:rPr lang="fr-FR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Only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~0.59% of transactions are 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fraud.</a:t>
            </a:r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Bank previously refunded 100% of fraudulent amounts.</a:t>
            </a:r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N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No </a:t>
            </a: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intelligent detection system in </a:t>
            </a:r>
            <a:r>
              <a:rPr lang="en-IN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place.</a:t>
            </a:r>
            <a:endParaRPr lang="en-I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38200" y="1497330"/>
            <a:ext cx="10568940" cy="2286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12211"/>
            <a:ext cx="406421" cy="2254366"/>
          </a:xfrm>
          <a:prstGeom prst="rect">
            <a:avLst/>
          </a:prstGeom>
        </p:spPr>
      </p:pic>
      <p:sp>
        <p:nvSpPr>
          <p:cNvPr id="7" name="Rectangle 6">
            <a:hlinkClick r:id="" action="ppaction://noaction" highlightClick="1"/>
            <a:hlinkHover r:id="" action="ppaction://noaction" highlightClick="1"/>
          </p:cNvPr>
          <p:cNvSpPr/>
          <p:nvPr/>
        </p:nvSpPr>
        <p:spPr>
          <a:xfrm>
            <a:off x="7465695" y="1999139"/>
            <a:ext cx="3665220" cy="400431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dirty="0" smtClean="0">
              <a:solidFill>
                <a:schemeClr val="bg1"/>
              </a:solidFill>
            </a:endParaRPr>
          </a:p>
          <a:p>
            <a:r>
              <a:rPr lang="en-IN" sz="2100" b="1" dirty="0" smtClean="0">
                <a:solidFill>
                  <a:schemeClr val="bg1"/>
                </a:solidFill>
              </a:rPr>
              <a:t>  Monthly Loss (Before Model)</a:t>
            </a:r>
          </a:p>
          <a:p>
            <a:endParaRPr lang="en-IN" sz="2100" b="1" dirty="0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</a:pPr>
            <a:r>
              <a:rPr lang="en-IN" sz="1400" dirty="0" smtClean="0">
                <a:solidFill>
                  <a:schemeClr val="bg1"/>
                </a:solidFill>
              </a:rPr>
              <a:t>     </a:t>
            </a:r>
            <a:r>
              <a:rPr lang="en-IN" sz="1400" dirty="0" err="1" smtClean="0">
                <a:solidFill>
                  <a:schemeClr val="bg1"/>
                </a:solidFill>
              </a:rPr>
              <a:t>Avg</a:t>
            </a:r>
            <a:r>
              <a:rPr lang="en-IN" sz="1400" dirty="0" smtClean="0">
                <a:solidFill>
                  <a:schemeClr val="bg1"/>
                </a:solidFill>
              </a:rPr>
              <a:t> Fraud per Month</a:t>
            </a:r>
          </a:p>
          <a:p>
            <a:pPr>
              <a:spcBef>
                <a:spcPts val="600"/>
              </a:spcBef>
            </a:pP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dirty="0" smtClean="0">
                <a:solidFill>
                  <a:schemeClr val="bg1"/>
                </a:solidFill>
              </a:rPr>
              <a:t>    </a:t>
            </a:r>
            <a:r>
              <a:rPr lang="en-IN" sz="2400" b="1" dirty="0" smtClean="0">
                <a:solidFill>
                  <a:schemeClr val="bg1"/>
                </a:solidFill>
              </a:rPr>
              <a:t>395</a:t>
            </a:r>
          </a:p>
          <a:p>
            <a:pPr>
              <a:spcBef>
                <a:spcPts val="600"/>
              </a:spcBef>
            </a:pPr>
            <a:endParaRPr lang="en-IN" sz="900" b="1" dirty="0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</a:pPr>
            <a:r>
              <a:rPr lang="en-IN" sz="1400" dirty="0" smtClean="0">
                <a:solidFill>
                  <a:schemeClr val="bg1"/>
                </a:solidFill>
              </a:rPr>
              <a:t>      </a:t>
            </a:r>
            <a:r>
              <a:rPr lang="en-IN" sz="1400" dirty="0" err="1" smtClean="0">
                <a:solidFill>
                  <a:schemeClr val="bg1"/>
                </a:solidFill>
              </a:rPr>
              <a:t>Avg</a:t>
            </a:r>
            <a:r>
              <a:rPr lang="en-IN" sz="1400" dirty="0" smtClean="0">
                <a:solidFill>
                  <a:schemeClr val="bg1"/>
                </a:solidFill>
              </a:rPr>
              <a:t> </a:t>
            </a:r>
            <a:r>
              <a:rPr lang="en-IN" sz="1400" dirty="0">
                <a:solidFill>
                  <a:schemeClr val="bg1"/>
                </a:solidFill>
              </a:rPr>
              <a:t>Fraud </a:t>
            </a:r>
            <a:r>
              <a:rPr lang="en-IN" sz="1400" dirty="0" smtClean="0">
                <a:solidFill>
                  <a:schemeClr val="bg1"/>
                </a:solidFill>
              </a:rPr>
              <a:t>Amount</a:t>
            </a:r>
          </a:p>
          <a:p>
            <a:pPr>
              <a:spcBef>
                <a:spcPts val="600"/>
              </a:spcBef>
            </a:pP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dirty="0" smtClean="0">
                <a:solidFill>
                  <a:schemeClr val="bg1"/>
                </a:solidFill>
              </a:rPr>
              <a:t>     </a:t>
            </a:r>
            <a:r>
              <a:rPr lang="en-IN" sz="2400" b="1" dirty="0">
                <a:solidFill>
                  <a:schemeClr val="bg1"/>
                </a:solidFill>
              </a:rPr>
              <a:t>$526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7715250" y="2781300"/>
            <a:ext cx="3166110" cy="114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772400" y="4838700"/>
            <a:ext cx="3108960" cy="986790"/>
          </a:xfrm>
          <a:prstGeom prst="roundRect">
            <a:avLst/>
          </a:prstGeom>
          <a:solidFill>
            <a:srgbClr val="B02714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Monthly </a:t>
            </a:r>
            <a:r>
              <a:rPr lang="en-IN" sz="1400" dirty="0" smtClean="0">
                <a:solidFill>
                  <a:schemeClr val="bg1"/>
                </a:solidFill>
              </a:rPr>
              <a:t>Loss</a:t>
            </a:r>
            <a:endParaRPr lang="en-IN" sz="900" dirty="0"/>
          </a:p>
          <a:p>
            <a:pPr algn="ctr">
              <a:spcBef>
                <a:spcPts val="600"/>
              </a:spcBef>
            </a:pPr>
            <a:r>
              <a:rPr lang="en-IN" sz="2800" b="1" dirty="0">
                <a:solidFill>
                  <a:schemeClr val="bg1"/>
                </a:solidFill>
              </a:rPr>
              <a:t>$207,917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25540"/>
            <a:ext cx="12192000" cy="21429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/>
              <a:t>Credit Card Fraud Detection System </a:t>
            </a:r>
            <a:r>
              <a:rPr lang="en-IN" sz="1000" dirty="0" smtClean="0"/>
              <a:t>			        							              Confidential</a:t>
            </a:r>
            <a:endParaRPr lang="en-IN" sz="1000" dirty="0"/>
          </a:p>
        </p:txBody>
      </p:sp>
      <p:pic>
        <p:nvPicPr>
          <p:cNvPr id="12" name="Picture 2" descr="Media Ki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1446"/>
            <a:ext cx="575310" cy="40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D4E1C38-3CEC-4044-AA06-B8BB3A06D0AA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835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3675"/>
            <a:ext cx="10515600" cy="747395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Project Objective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48800" y="6488409"/>
            <a:ext cx="2743200" cy="365125"/>
          </a:xfrm>
        </p:spPr>
        <p:txBody>
          <a:bodyPr/>
          <a:lstStyle/>
          <a:p>
            <a:fld id="{0D4E1C38-3CEC-4044-AA06-B8BB3A06D0AA}" type="slidenum">
              <a:rPr lang="en-IN" smtClean="0"/>
              <a:t>3</a:t>
            </a:fld>
            <a:endParaRPr lang="en-IN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38200" y="996473"/>
            <a:ext cx="10568940" cy="2286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6225540"/>
            <a:ext cx="12192000" cy="21429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/>
              <a:t>Credit Card Fraud Detection System </a:t>
            </a:r>
            <a:r>
              <a:rPr lang="en-IN" sz="1000" dirty="0" smtClean="0"/>
              <a:t>			        							              Confidential</a:t>
            </a:r>
            <a:endParaRPr lang="en-IN" sz="1000" dirty="0"/>
          </a:p>
        </p:txBody>
      </p:sp>
      <p:pic>
        <p:nvPicPr>
          <p:cNvPr id="7" name="Picture 2" descr="Media Ki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1446"/>
            <a:ext cx="575310" cy="40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7">
            <a:hlinkHover r:id="" action="ppaction://noaction" highlightClick="1"/>
          </p:cNvPr>
          <p:cNvSpPr/>
          <p:nvPr/>
        </p:nvSpPr>
        <p:spPr>
          <a:xfrm>
            <a:off x="1143000" y="1428750"/>
            <a:ext cx="4824000" cy="4536000"/>
          </a:xfrm>
          <a:prstGeom prst="roundRect">
            <a:avLst>
              <a:gd name="adj" fmla="val 682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sz="800" dirty="0" smtClean="0"/>
          </a:p>
          <a:p>
            <a:r>
              <a:rPr lang="en-IN" dirty="0"/>
              <a:t> </a:t>
            </a:r>
            <a:r>
              <a:rPr lang="en-IN" dirty="0" smtClean="0"/>
              <a:t>           </a:t>
            </a:r>
            <a:r>
              <a:rPr lang="en-IN" sz="2400" b="1" dirty="0" smtClean="0">
                <a:solidFill>
                  <a:schemeClr val="accent5">
                    <a:lumMod val="75000"/>
                  </a:schemeClr>
                </a:solidFill>
              </a:rPr>
              <a:t>Business Objective</a:t>
            </a:r>
          </a:p>
          <a:p>
            <a:endParaRPr lang="en-IN" sz="2400" b="1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IN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Minimize fraud losses while controlling operational </a:t>
            </a:r>
            <a:r>
              <a:rPr 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costs</a:t>
            </a:r>
          </a:p>
          <a:p>
            <a:endParaRPr lang="en-US" sz="16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52000">
              <a:spcBef>
                <a:spcPts val="600"/>
              </a:spcBef>
              <a:spcAft>
                <a:spcPts val="600"/>
              </a:spcAft>
            </a:pPr>
            <a:r>
              <a:rPr lang="en-US" sz="15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Reduce 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financial losses from fraudulent </a:t>
            </a:r>
            <a:r>
              <a:rPr lang="en-US" sz="15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transactions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52000">
              <a:spcBef>
                <a:spcPts val="600"/>
              </a:spcBef>
              <a:spcAft>
                <a:spcPts val="600"/>
              </a:spcAft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Optimize cost-benefit tradeoff between detection and </a:t>
            </a:r>
            <a:r>
              <a:rPr lang="en-US" sz="15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operations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52000">
              <a:spcBef>
                <a:spcPts val="600"/>
              </a:spcBef>
              <a:spcAft>
                <a:spcPts val="600"/>
              </a:spcAft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Maintain positive customer </a:t>
            </a:r>
            <a:r>
              <a:rPr lang="en-US" sz="15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experience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Rounded Rectangle 8">
            <a:hlinkHover r:id="" action="ppaction://noaction" highlightClick="1"/>
          </p:cNvPr>
          <p:cNvSpPr/>
          <p:nvPr/>
        </p:nvSpPr>
        <p:spPr>
          <a:xfrm>
            <a:off x="6317520" y="1428750"/>
            <a:ext cx="4824000" cy="4536000"/>
          </a:xfrm>
          <a:prstGeom prst="roundRect">
            <a:avLst>
              <a:gd name="adj" fmla="val 7669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sz="800" dirty="0"/>
          </a:p>
          <a:p>
            <a:r>
              <a:rPr lang="en-IN" sz="2400" b="1" dirty="0" smtClean="0">
                <a:solidFill>
                  <a:schemeClr val="accent5">
                    <a:lumMod val="75000"/>
                  </a:schemeClr>
                </a:solidFill>
              </a:rPr>
              <a:t>       </a:t>
            </a:r>
            <a:r>
              <a:rPr lang="en-IN" sz="2400" b="1" dirty="0" smtClean="0">
                <a:solidFill>
                  <a:schemeClr val="accent6">
                    <a:lumMod val="75000"/>
                  </a:schemeClr>
                </a:solidFill>
              </a:rPr>
              <a:t>Machine </a:t>
            </a:r>
            <a:r>
              <a:rPr lang="en-IN" sz="2400" b="1" dirty="0">
                <a:solidFill>
                  <a:schemeClr val="accent6">
                    <a:lumMod val="75000"/>
                  </a:schemeClr>
                </a:solidFill>
              </a:rPr>
              <a:t>Learning </a:t>
            </a:r>
            <a:r>
              <a:rPr lang="en-IN" sz="2400" b="1" dirty="0" smtClean="0">
                <a:solidFill>
                  <a:schemeClr val="accent6">
                    <a:lumMod val="75000"/>
                  </a:schemeClr>
                </a:solidFill>
              </a:rPr>
              <a:t>Objective</a:t>
            </a:r>
          </a:p>
          <a:p>
            <a:endParaRPr lang="en-IN" sz="24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IN" sz="16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IN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Build a model that</a:t>
            </a:r>
            <a:r>
              <a:rPr lang="en-IN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:</a:t>
            </a:r>
          </a:p>
          <a:p>
            <a:endParaRPr lang="en-IN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52000">
              <a:spcBef>
                <a:spcPts val="600"/>
              </a:spcBef>
              <a:spcAft>
                <a:spcPts val="600"/>
              </a:spcAft>
            </a:pPr>
            <a:r>
              <a:rPr lang="en-IN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Detects fraudulent transactions accurately</a:t>
            </a:r>
          </a:p>
          <a:p>
            <a:pPr marL="252000">
              <a:spcBef>
                <a:spcPts val="600"/>
              </a:spcBef>
              <a:spcAft>
                <a:spcPts val="600"/>
              </a:spcAft>
            </a:pPr>
            <a:r>
              <a:rPr lang="en-IN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Maximizes Recall (fraud detection rate)</a:t>
            </a:r>
          </a:p>
          <a:p>
            <a:pPr marL="252000">
              <a:spcBef>
                <a:spcPts val="600"/>
              </a:spcBef>
              <a:spcAft>
                <a:spcPts val="600"/>
              </a:spcAft>
            </a:pPr>
            <a:r>
              <a:rPr lang="en-IN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Maintains high ROC-AUC score</a:t>
            </a:r>
          </a:p>
          <a:p>
            <a:pPr marL="252000">
              <a:spcBef>
                <a:spcPts val="600"/>
              </a:spcBef>
              <a:spcAft>
                <a:spcPts val="600"/>
              </a:spcAft>
            </a:pPr>
            <a:r>
              <a:rPr lang="en-IN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Minimizes overall financial </a:t>
            </a:r>
            <a:r>
              <a:rPr lang="en-IN" sz="15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loss</a:t>
            </a:r>
            <a:endParaRPr lang="en-IN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31620" y="1687830"/>
            <a:ext cx="350520" cy="35052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1493520" y="2251710"/>
            <a:ext cx="408051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568440" y="2251710"/>
            <a:ext cx="408051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568440" y="1704975"/>
            <a:ext cx="327660" cy="32766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 flipV="1">
            <a:off x="1306830" y="3529091"/>
            <a:ext cx="180000" cy="1800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1306830" y="3909078"/>
            <a:ext cx="180000" cy="1800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24658" y="4517647"/>
            <a:ext cx="180000" cy="1800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78440" y="3264416"/>
            <a:ext cx="180000" cy="1800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0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6478440" y="3646661"/>
            <a:ext cx="180000" cy="1800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78440" y="4056078"/>
            <a:ext cx="180000" cy="1800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78440" y="4434254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831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3675"/>
            <a:ext cx="10515600" cy="747395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Project </a:t>
            </a:r>
            <a:r>
              <a:rPr lang="en-IN" sz="3200" b="1" dirty="0" smtClean="0">
                <a:solidFill>
                  <a:schemeClr val="accent5">
                    <a:lumMod val="7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Workflow</a:t>
            </a:r>
            <a:endParaRPr lang="en-IN" sz="3200" b="1" dirty="0">
              <a:solidFill>
                <a:schemeClr val="accent5">
                  <a:lumMod val="75000"/>
                </a:schemeClr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48800" y="6488409"/>
            <a:ext cx="2743200" cy="365125"/>
          </a:xfrm>
        </p:spPr>
        <p:txBody>
          <a:bodyPr/>
          <a:lstStyle/>
          <a:p>
            <a:fld id="{0D4E1C38-3CEC-4044-AA06-B8BB3A06D0AA}" type="slidenum">
              <a:rPr lang="en-IN" smtClean="0"/>
              <a:t>4</a:t>
            </a:fld>
            <a:endParaRPr lang="en-IN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38200" y="996473"/>
            <a:ext cx="10568940" cy="2286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6225540"/>
            <a:ext cx="12192000" cy="21429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/>
              <a:t>Credit Card Fraud Detection System </a:t>
            </a:r>
            <a:r>
              <a:rPr lang="en-IN" sz="1000" dirty="0" smtClean="0"/>
              <a:t>			        							              Confidential</a:t>
            </a:r>
            <a:endParaRPr lang="en-IN" sz="1000" dirty="0"/>
          </a:p>
        </p:txBody>
      </p:sp>
      <p:pic>
        <p:nvPicPr>
          <p:cNvPr id="7" name="Picture 2" descr="Media Ki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1446"/>
            <a:ext cx="575310" cy="40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2">
            <a:hlinkHover r:id="" action="ppaction://noaction" highlightClick="1"/>
          </p:cNvPr>
          <p:cNvSpPr/>
          <p:nvPr/>
        </p:nvSpPr>
        <p:spPr>
          <a:xfrm>
            <a:off x="1131570" y="1634490"/>
            <a:ext cx="2038350" cy="1588770"/>
          </a:xfrm>
          <a:prstGeom prst="roundRect">
            <a:avLst>
              <a:gd name="adj" fmla="val 18825"/>
            </a:avLst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endParaRPr lang="en-IN" sz="1300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endParaRPr lang="en-IN" sz="1300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endParaRPr lang="en-IN" sz="1300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en-IN" sz="13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Data Cleaning &amp; </a:t>
            </a:r>
            <a:r>
              <a:rPr lang="en-IN" sz="13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Preprocessing</a:t>
            </a:r>
            <a:endParaRPr lang="en-IN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Rounded Rectangle 25">
            <a:hlinkHover r:id="" action="ppaction://noaction" highlightClick="1"/>
          </p:cNvPr>
          <p:cNvSpPr/>
          <p:nvPr/>
        </p:nvSpPr>
        <p:spPr>
          <a:xfrm>
            <a:off x="3745230" y="1624965"/>
            <a:ext cx="2038350" cy="1588770"/>
          </a:xfrm>
          <a:prstGeom prst="roundRect">
            <a:avLst>
              <a:gd name="adj" fmla="val 18825"/>
            </a:avLst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IN" sz="1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IN" sz="13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IN" sz="1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3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Exploratory Data Analysis</a:t>
            </a:r>
            <a:endParaRPr lang="en-IN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Rounded Rectangle 26">
            <a:hlinkHover r:id="" action="ppaction://noaction" highlightClick="1"/>
          </p:cNvPr>
          <p:cNvSpPr/>
          <p:nvPr/>
        </p:nvSpPr>
        <p:spPr>
          <a:xfrm>
            <a:off x="6358890" y="1634490"/>
            <a:ext cx="2038350" cy="1588770"/>
          </a:xfrm>
          <a:prstGeom prst="roundRect">
            <a:avLst>
              <a:gd name="adj" fmla="val 18825"/>
            </a:avLst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IN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IN" sz="13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IN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3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Feature </a:t>
            </a:r>
          </a:p>
          <a:p>
            <a:pPr algn="ctr"/>
            <a:r>
              <a:rPr lang="en-IN" sz="13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Engineering</a:t>
            </a:r>
            <a:endParaRPr lang="en-IN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8" name="Rounded Rectangle 27">
            <a:hlinkHover r:id="" action="ppaction://noaction" highlightClick="1"/>
          </p:cNvPr>
          <p:cNvSpPr/>
          <p:nvPr/>
        </p:nvSpPr>
        <p:spPr>
          <a:xfrm>
            <a:off x="8972550" y="1624965"/>
            <a:ext cx="2038350" cy="1588770"/>
          </a:xfrm>
          <a:prstGeom prst="roundRect">
            <a:avLst>
              <a:gd name="adj" fmla="val 18825"/>
            </a:avLst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IN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IN" sz="13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IN" sz="13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3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Class Imbalance Handling</a:t>
            </a:r>
            <a:endParaRPr lang="en-IN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" name="Rounded Rectangle 28">
            <a:hlinkHover r:id="" action="ppaction://noaction" highlightClick="1"/>
          </p:cNvPr>
          <p:cNvSpPr/>
          <p:nvPr/>
        </p:nvSpPr>
        <p:spPr>
          <a:xfrm>
            <a:off x="1131570" y="3745230"/>
            <a:ext cx="2038350" cy="1588770"/>
          </a:xfrm>
          <a:prstGeom prst="roundRect">
            <a:avLst>
              <a:gd name="adj" fmla="val 18825"/>
            </a:avLst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IN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IN" sz="13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IN" sz="13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3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Cost-Benefit </a:t>
            </a:r>
          </a:p>
          <a:p>
            <a:pPr algn="ctr"/>
            <a:r>
              <a:rPr lang="en-IN" sz="13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Analysis</a:t>
            </a:r>
            <a:endParaRPr lang="en-IN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Rounded Rectangle 29">
            <a:hlinkHover r:id="" action="ppaction://noaction" highlightClick="1"/>
          </p:cNvPr>
          <p:cNvSpPr/>
          <p:nvPr/>
        </p:nvSpPr>
        <p:spPr>
          <a:xfrm>
            <a:off x="3745230" y="3735705"/>
            <a:ext cx="2038350" cy="1588770"/>
          </a:xfrm>
          <a:prstGeom prst="roundRect">
            <a:avLst>
              <a:gd name="adj" fmla="val 18825"/>
            </a:avLst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IN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IN" sz="13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IN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3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External</a:t>
            </a:r>
          </a:p>
          <a:p>
            <a:pPr algn="ctr"/>
            <a:r>
              <a:rPr lang="en-IN" sz="13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Validation</a:t>
            </a:r>
            <a:endParaRPr lang="en-IN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Rounded Rectangle 30">
            <a:hlinkHover r:id="" action="ppaction://noaction" highlightClick="1"/>
          </p:cNvPr>
          <p:cNvSpPr/>
          <p:nvPr/>
        </p:nvSpPr>
        <p:spPr>
          <a:xfrm>
            <a:off x="6358890" y="3735705"/>
            <a:ext cx="2038350" cy="1588770"/>
          </a:xfrm>
          <a:prstGeom prst="roundRect">
            <a:avLst>
              <a:gd name="adj" fmla="val 18825"/>
            </a:avLst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IN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IN" sz="13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IN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3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Hyperparameter</a:t>
            </a:r>
            <a:endParaRPr lang="en-IN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3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Tuning</a:t>
            </a:r>
            <a:endParaRPr lang="en-IN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Rounded Rectangle 31">
            <a:hlinkHover r:id="" action="ppaction://noaction" highlightClick="1"/>
          </p:cNvPr>
          <p:cNvSpPr/>
          <p:nvPr/>
        </p:nvSpPr>
        <p:spPr>
          <a:xfrm>
            <a:off x="8972550" y="3735705"/>
            <a:ext cx="2038350" cy="1588770"/>
          </a:xfrm>
          <a:prstGeom prst="roundRect">
            <a:avLst>
              <a:gd name="adj" fmla="val 18825"/>
            </a:avLst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IN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IN" sz="13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IN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3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Model</a:t>
            </a:r>
          </a:p>
          <a:p>
            <a:pPr algn="ctr"/>
            <a:r>
              <a:rPr lang="en-IN" sz="13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Buildings</a:t>
            </a:r>
            <a:endParaRPr lang="en-IN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" name="Straight Arrow Connector 11"/>
          <p:cNvCxnSpPr>
            <a:stCxn id="3" idx="3"/>
            <a:endCxn id="26" idx="1"/>
          </p:cNvCxnSpPr>
          <p:nvPr/>
        </p:nvCxnSpPr>
        <p:spPr>
          <a:xfrm flipV="1">
            <a:off x="3169920" y="2419350"/>
            <a:ext cx="575310" cy="9525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5783580" y="2428875"/>
            <a:ext cx="575310" cy="9525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8397240" y="2438400"/>
            <a:ext cx="575310" cy="9525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32" idx="0"/>
          </p:cNvCxnSpPr>
          <p:nvPr/>
        </p:nvCxnSpPr>
        <p:spPr>
          <a:xfrm>
            <a:off x="9991725" y="3213735"/>
            <a:ext cx="0" cy="52197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8385810" y="4520564"/>
            <a:ext cx="586740" cy="9526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5772150" y="4539615"/>
            <a:ext cx="586740" cy="9526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3147060" y="4549141"/>
            <a:ext cx="586740" cy="9526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/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52625" y="1832610"/>
            <a:ext cx="360000" cy="3600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08194" y="1830625"/>
            <a:ext cx="360000" cy="36000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70420" y="1831658"/>
            <a:ext cx="360000" cy="36000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80270" y="1830625"/>
            <a:ext cx="360000" cy="360000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80270" y="3942398"/>
            <a:ext cx="360000" cy="360000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70420" y="3934800"/>
            <a:ext cx="360000" cy="360000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10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08194" y="3942398"/>
            <a:ext cx="360000" cy="360000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11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52625" y="3942398"/>
            <a:ext cx="360000" cy="360000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1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11725" y="2298121"/>
            <a:ext cx="288000" cy="288000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1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44194" y="2292496"/>
            <a:ext cx="288000" cy="288000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1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9816270" y="2284875"/>
            <a:ext cx="288000" cy="288000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1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 flipV="1">
            <a:off x="2005770" y="4395615"/>
            <a:ext cx="288000" cy="288000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16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06420" y="2292496"/>
            <a:ext cx="288000" cy="288000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17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9816270" y="4405141"/>
            <a:ext cx="288000" cy="288000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18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54090" y="4405141"/>
            <a:ext cx="288000" cy="288000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44194" y="4405141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861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3675"/>
            <a:ext cx="10515600" cy="747395"/>
          </a:xfrm>
        </p:spPr>
        <p:txBody>
          <a:bodyPr>
            <a:normAutofit/>
          </a:bodyPr>
          <a:lstStyle/>
          <a:p>
            <a:r>
              <a:rPr lang="en-IN" sz="3200" b="1" dirty="0" smtClean="0">
                <a:solidFill>
                  <a:schemeClr val="accent5">
                    <a:lumMod val="7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Key Insights from EDA</a:t>
            </a:r>
            <a:endParaRPr lang="en-IN" sz="3200" b="1" dirty="0">
              <a:solidFill>
                <a:schemeClr val="accent5">
                  <a:lumMod val="75000"/>
                </a:schemeClr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48800" y="6488409"/>
            <a:ext cx="2743200" cy="365125"/>
          </a:xfrm>
        </p:spPr>
        <p:txBody>
          <a:bodyPr/>
          <a:lstStyle/>
          <a:p>
            <a:fld id="{0D4E1C38-3CEC-4044-AA06-B8BB3A06D0AA}" type="slidenum">
              <a:rPr lang="en-IN" smtClean="0"/>
              <a:t>5</a:t>
            </a:fld>
            <a:endParaRPr lang="en-IN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38200" y="996473"/>
            <a:ext cx="10568940" cy="2286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6225540"/>
            <a:ext cx="12192000" cy="21429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/>
              <a:t>Credit Card Fraud Detection System </a:t>
            </a:r>
            <a:r>
              <a:rPr lang="en-IN" sz="1000" dirty="0" smtClean="0"/>
              <a:t>			        							              Confidential</a:t>
            </a:r>
            <a:endParaRPr lang="en-IN" sz="1000" dirty="0"/>
          </a:p>
        </p:txBody>
      </p:sp>
      <p:pic>
        <p:nvPicPr>
          <p:cNvPr id="7" name="Picture 2" descr="Media Ki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1446"/>
            <a:ext cx="575310" cy="40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47750" y="348707"/>
            <a:ext cx="445770" cy="4457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88280" y="1280160"/>
            <a:ext cx="2260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Surprising Findings:</a:t>
            </a:r>
            <a:endParaRPr lang="en-IN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036820" y="1354485"/>
            <a:ext cx="251460" cy="2514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329690" y="1754595"/>
            <a:ext cx="9959340" cy="89535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ounded Rectangle 42">
            <a:hlinkHover r:id="" action="ppaction://noaction" highlightClick="1"/>
          </p:cNvPr>
          <p:cNvSpPr/>
          <p:nvPr/>
        </p:nvSpPr>
        <p:spPr>
          <a:xfrm>
            <a:off x="1394460" y="1754595"/>
            <a:ext cx="9959340" cy="8953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	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Night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transactions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 showed significantly higher fraud risk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329690" y="2886165"/>
            <a:ext cx="9959340" cy="89535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ounded Rectangle 47">
            <a:hlinkHover r:id="" action="ppaction://noaction" highlightClick="1"/>
          </p:cNvPr>
          <p:cNvSpPr/>
          <p:nvPr/>
        </p:nvSpPr>
        <p:spPr>
          <a:xfrm>
            <a:off x="1394460" y="2886165"/>
            <a:ext cx="9959340" cy="8953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	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Fraud often occurs when 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transaction amount deviates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 from customer average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329690" y="4021605"/>
            <a:ext cx="9959340" cy="89535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Rounded Rectangle 58">
            <a:hlinkHover r:id="" action="ppaction://noaction" highlightClick="1"/>
          </p:cNvPr>
          <p:cNvSpPr/>
          <p:nvPr/>
        </p:nvSpPr>
        <p:spPr>
          <a:xfrm>
            <a:off x="1394460" y="4021605"/>
            <a:ext cx="9959340" cy="8953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	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Certain 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cities and job categories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 showed higher fraud rates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1329690" y="5157045"/>
            <a:ext cx="9959340" cy="89535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Rounded Rectangle 63">
            <a:hlinkHover r:id="" action="ppaction://noaction" highlightClick="1"/>
          </p:cNvPr>
          <p:cNvSpPr/>
          <p:nvPr/>
        </p:nvSpPr>
        <p:spPr>
          <a:xfrm>
            <a:off x="1394460" y="5157045"/>
            <a:ext cx="9959340" cy="8953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	Distance between customer and merchant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 was influential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65" name="Picture 64"/>
          <p:cNvPicPr>
            <a:picLocks noChangeAspect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77840" y="3118110"/>
            <a:ext cx="432000" cy="4320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81920" y="1986270"/>
            <a:ext cx="432000" cy="432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77840" y="4253280"/>
            <a:ext cx="432000" cy="432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77840" y="5388720"/>
            <a:ext cx="432000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02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3675"/>
            <a:ext cx="10515600" cy="747395"/>
          </a:xfrm>
        </p:spPr>
        <p:txBody>
          <a:bodyPr>
            <a:normAutofit/>
          </a:bodyPr>
          <a:lstStyle/>
          <a:p>
            <a:r>
              <a:rPr lang="en-IN" sz="3200" b="1" dirty="0" smtClean="0">
                <a:solidFill>
                  <a:schemeClr val="accent5">
                    <a:lumMod val="7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 Handling Class Imbalance</a:t>
            </a:r>
            <a:endParaRPr lang="en-IN" sz="3200" b="1" dirty="0">
              <a:solidFill>
                <a:schemeClr val="accent5">
                  <a:lumMod val="75000"/>
                </a:schemeClr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48800" y="6488409"/>
            <a:ext cx="2743200" cy="365125"/>
          </a:xfrm>
        </p:spPr>
        <p:txBody>
          <a:bodyPr/>
          <a:lstStyle/>
          <a:p>
            <a:fld id="{0D4E1C38-3CEC-4044-AA06-B8BB3A06D0AA}" type="slidenum">
              <a:rPr lang="en-IN" smtClean="0"/>
              <a:t>6</a:t>
            </a:fld>
            <a:endParaRPr lang="en-IN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38200" y="996473"/>
            <a:ext cx="10568940" cy="2286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6225540"/>
            <a:ext cx="12192000" cy="21429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/>
              <a:t>Credit Card Fraud Detection System </a:t>
            </a:r>
            <a:r>
              <a:rPr lang="en-IN" sz="1000" dirty="0" smtClean="0"/>
              <a:t>			        							              Confidential</a:t>
            </a:r>
            <a:endParaRPr lang="en-IN" sz="1000" dirty="0"/>
          </a:p>
        </p:txBody>
      </p:sp>
      <p:pic>
        <p:nvPicPr>
          <p:cNvPr id="7" name="Picture 2" descr="Media Ki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1446"/>
            <a:ext cx="575310" cy="40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ounded Rectangle 48"/>
          <p:cNvSpPr/>
          <p:nvPr/>
        </p:nvSpPr>
        <p:spPr>
          <a:xfrm>
            <a:off x="1329690" y="4021605"/>
            <a:ext cx="4754880" cy="89535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Rounded Rectangle 58">
            <a:hlinkHover r:id="" action="ppaction://noaction" highlightClick="1"/>
          </p:cNvPr>
          <p:cNvSpPr/>
          <p:nvPr/>
        </p:nvSpPr>
        <p:spPr>
          <a:xfrm>
            <a:off x="1394460" y="4021605"/>
            <a:ext cx="4690110" cy="8953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32000"/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Stratified K-Fold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329690" y="5157045"/>
            <a:ext cx="4754880" cy="89535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Rounded Rectangle 63">
            <a:hlinkHover r:id="" action="ppaction://noaction" highlightClick="1"/>
          </p:cNvPr>
          <p:cNvSpPr/>
          <p:nvPr/>
        </p:nvSpPr>
        <p:spPr>
          <a:xfrm>
            <a:off x="1394460" y="5157045"/>
            <a:ext cx="4690110" cy="8953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32000"/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Oversampling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Rounded Rectangle 2">
            <a:hlinkHover r:id="" action="ppaction://noaction" highlightClick="1"/>
          </p:cNvPr>
          <p:cNvSpPr/>
          <p:nvPr/>
        </p:nvSpPr>
        <p:spPr>
          <a:xfrm>
            <a:off x="1066800" y="1192478"/>
            <a:ext cx="10111740" cy="149352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 smtClean="0"/>
              <a:t>Fraud Rate</a:t>
            </a:r>
          </a:p>
          <a:p>
            <a:pPr algn="ctr"/>
            <a:endParaRPr lang="en-IN" sz="800" dirty="0" smtClean="0"/>
          </a:p>
          <a:p>
            <a:pPr algn="ctr"/>
            <a:r>
              <a:rPr lang="en-IN" sz="4400" b="1" dirty="0" smtClean="0"/>
              <a:t>0.59%</a:t>
            </a:r>
            <a:endParaRPr lang="en-IN" sz="4400" b="1" dirty="0"/>
          </a:p>
        </p:txBody>
      </p:sp>
      <p:sp>
        <p:nvSpPr>
          <p:cNvPr id="23" name="Rounded Rectangle 22"/>
          <p:cNvSpPr/>
          <p:nvPr/>
        </p:nvSpPr>
        <p:spPr>
          <a:xfrm>
            <a:off x="1329690" y="2885967"/>
            <a:ext cx="4754880" cy="89535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ounded Rectangle 23">
            <a:hlinkHover r:id="" action="ppaction://noaction" highlightClick="1"/>
          </p:cNvPr>
          <p:cNvSpPr/>
          <p:nvPr/>
        </p:nvSpPr>
        <p:spPr>
          <a:xfrm>
            <a:off x="1394460" y="2885967"/>
            <a:ext cx="4690110" cy="8953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32000"/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Baseline (No handling)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32220" y="4027428"/>
            <a:ext cx="4754880" cy="89535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ounded Rectangle 26">
            <a:hlinkHover r:id="" action="ppaction://noaction" highlightClick="1"/>
          </p:cNvPr>
          <p:cNvSpPr/>
          <p:nvPr/>
        </p:nvSpPr>
        <p:spPr>
          <a:xfrm>
            <a:off x="6396990" y="4027428"/>
            <a:ext cx="4690110" cy="8953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32000"/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Class 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Weighting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332220" y="2891790"/>
            <a:ext cx="4754880" cy="89535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ounded Rectangle 28">
            <a:hlinkHover r:id="" action="ppaction://noaction" highlightClick="1"/>
          </p:cNvPr>
          <p:cNvSpPr/>
          <p:nvPr/>
        </p:nvSpPr>
        <p:spPr>
          <a:xfrm>
            <a:off x="6396990" y="2891790"/>
            <a:ext cx="4690110" cy="8953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32000"/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Undersampling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43050" y="3187974"/>
            <a:ext cx="288000" cy="288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46080" y="4350788"/>
            <a:ext cx="288000" cy="288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43050" y="5460720"/>
            <a:ext cx="288000" cy="2880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598920" y="3209801"/>
            <a:ext cx="288000" cy="2880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598920" y="4350788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679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3675"/>
            <a:ext cx="10515600" cy="747395"/>
          </a:xfrm>
        </p:spPr>
        <p:txBody>
          <a:bodyPr>
            <a:normAutofit/>
          </a:bodyPr>
          <a:lstStyle/>
          <a:p>
            <a:r>
              <a:rPr lang="en-IN" sz="3200" b="1" dirty="0" smtClean="0">
                <a:solidFill>
                  <a:schemeClr val="accent5">
                    <a:lumMod val="7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 Model Comparison</a:t>
            </a:r>
            <a:endParaRPr lang="en-IN" sz="3200" b="1" dirty="0">
              <a:solidFill>
                <a:schemeClr val="accent5">
                  <a:lumMod val="75000"/>
                </a:schemeClr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48800" y="6488409"/>
            <a:ext cx="2743200" cy="365125"/>
          </a:xfrm>
        </p:spPr>
        <p:txBody>
          <a:bodyPr/>
          <a:lstStyle/>
          <a:p>
            <a:fld id="{0D4E1C38-3CEC-4044-AA06-B8BB3A06D0AA}" type="slidenum">
              <a:rPr lang="en-IN" smtClean="0"/>
              <a:t>7</a:t>
            </a:fld>
            <a:endParaRPr lang="en-IN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38200" y="996473"/>
            <a:ext cx="10568940" cy="2286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6225540"/>
            <a:ext cx="12192000" cy="21429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/>
              <a:t>Credit Card Fraud Detection System </a:t>
            </a:r>
            <a:r>
              <a:rPr lang="en-IN" sz="1000" dirty="0" smtClean="0"/>
              <a:t>			        							              Confidential</a:t>
            </a:r>
            <a:endParaRPr lang="en-IN" sz="1000" dirty="0"/>
          </a:p>
        </p:txBody>
      </p:sp>
      <p:pic>
        <p:nvPicPr>
          <p:cNvPr id="7" name="Picture 2" descr="Media Ki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1446"/>
            <a:ext cx="575310" cy="40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/>
          <p:cNvSpPr txBox="1"/>
          <p:nvPr/>
        </p:nvSpPr>
        <p:spPr>
          <a:xfrm>
            <a:off x="4754218" y="1303020"/>
            <a:ext cx="27369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Top Performing Models:</a:t>
            </a:r>
            <a:endParaRPr lang="en-IN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394698" y="1905000"/>
            <a:ext cx="4640580" cy="2632710"/>
          </a:xfrm>
          <a:prstGeom prst="roundRect">
            <a:avLst>
              <a:gd name="adj" fmla="val 5090"/>
            </a:avLst>
          </a:prstGeom>
          <a:solidFill>
            <a:srgbClr val="F0F2F4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 smtClean="0"/>
          </a:p>
          <a:p>
            <a:pPr algn="ctr"/>
            <a:endParaRPr lang="en-IN" sz="2400" dirty="0" smtClean="0"/>
          </a:p>
          <a:p>
            <a:pPr algn="ctr"/>
            <a:r>
              <a:rPr lang="en-I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Random Forest</a:t>
            </a:r>
          </a:p>
          <a:p>
            <a:pPr algn="ctr"/>
            <a:endParaRPr lang="en-IN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Strong ensemble method with good baseline performance</a:t>
            </a:r>
            <a:endParaRPr lang="en-IN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381750" y="1905000"/>
            <a:ext cx="4640580" cy="2632710"/>
          </a:xfrm>
          <a:prstGeom prst="roundRect">
            <a:avLst>
              <a:gd name="adj" fmla="val 4510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 smtClean="0"/>
          </a:p>
          <a:p>
            <a:pPr algn="ctr"/>
            <a:endParaRPr lang="en-IN" sz="2400" dirty="0" smtClean="0"/>
          </a:p>
          <a:p>
            <a:pPr algn="ctr"/>
            <a:r>
              <a:rPr lang="en-IN" sz="2400" b="1" dirty="0" err="1" smtClean="0">
                <a:solidFill>
                  <a:schemeClr val="accent5">
                    <a:lumMod val="75000"/>
                  </a:schemeClr>
                </a:solidFill>
              </a:rPr>
              <a:t>XGBoost</a:t>
            </a:r>
            <a:endParaRPr lang="en-IN" sz="24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endParaRPr lang="en-IN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Final model selected after </a:t>
            </a:r>
            <a:r>
              <a:rPr lang="en-IN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hyperparameter</a:t>
            </a:r>
            <a:r>
              <a:rPr lang="en-IN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tuning</a:t>
            </a:r>
            <a:endParaRPr lang="en-IN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448800" y="1732982"/>
            <a:ext cx="1162050" cy="295459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 dirty="0" smtClean="0"/>
              <a:t>      SELECTED</a:t>
            </a:r>
            <a:endParaRPr lang="en-IN" sz="1300" b="1" dirty="0"/>
          </a:p>
        </p:txBody>
      </p:sp>
      <p:sp>
        <p:nvSpPr>
          <p:cNvPr id="10" name="Oval 9"/>
          <p:cNvSpPr/>
          <p:nvPr/>
        </p:nvSpPr>
        <p:spPr>
          <a:xfrm>
            <a:off x="3267551" y="2076450"/>
            <a:ext cx="894398" cy="8915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46145" y="2253615"/>
            <a:ext cx="537210" cy="537210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8254841" y="2076450"/>
            <a:ext cx="894398" cy="89154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8456295" y="2276475"/>
            <a:ext cx="491490" cy="49149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9562248" y="1790750"/>
            <a:ext cx="179922" cy="179922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1394698" y="4869657"/>
            <a:ext cx="9627632" cy="99441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IN" dirty="0" smtClean="0"/>
              <a:t>	</a:t>
            </a:r>
            <a:r>
              <a:rPr lang="en-IN" b="1" dirty="0" smtClean="0">
                <a:solidFill>
                  <a:schemeClr val="accent6">
                    <a:lumMod val="75000"/>
                  </a:schemeClr>
                </a:solidFill>
              </a:rPr>
              <a:t>After </a:t>
            </a:r>
            <a:r>
              <a:rPr lang="en-IN" b="1" dirty="0" err="1" smtClean="0">
                <a:solidFill>
                  <a:schemeClr val="accent6">
                    <a:lumMod val="75000"/>
                  </a:schemeClr>
                </a:solidFill>
              </a:rPr>
              <a:t>Hyperparameter</a:t>
            </a:r>
            <a:r>
              <a:rPr lang="en-IN" b="1" dirty="0" smtClean="0">
                <a:solidFill>
                  <a:schemeClr val="accent6">
                    <a:lumMod val="75000"/>
                  </a:schemeClr>
                </a:solidFill>
              </a:rPr>
              <a:t> Tuning:</a:t>
            </a:r>
          </a:p>
          <a:p>
            <a:pPr>
              <a:spcBef>
                <a:spcPts val="600"/>
              </a:spcBef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XGBoost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 selected as final model due to best balance of fraud recall and precision</a:t>
            </a:r>
            <a:endParaRPr lang="en-IN" sz="1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49730" y="5086827"/>
            <a:ext cx="560070" cy="56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228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3675"/>
            <a:ext cx="10515600" cy="747395"/>
          </a:xfrm>
        </p:spPr>
        <p:txBody>
          <a:bodyPr>
            <a:normAutofit fontScale="90000"/>
          </a:bodyPr>
          <a:lstStyle/>
          <a:p>
            <a:r>
              <a:rPr lang="en-IN" sz="3200" b="1" dirty="0" smtClean="0">
                <a:solidFill>
                  <a:schemeClr val="accent5">
                    <a:lumMod val="7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   Final External Test Performance</a:t>
            </a:r>
            <a:br>
              <a:rPr lang="en-IN" sz="3200" b="1" dirty="0" smtClean="0">
                <a:solidFill>
                  <a:schemeClr val="accent5">
                    <a:lumMod val="7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en-IN" sz="1600" b="1" dirty="0" smtClean="0">
                <a:solidFill>
                  <a:schemeClr val="accent5">
                    <a:lumMod val="7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 </a:t>
            </a:r>
            <a:r>
              <a:rPr lang="en-IN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(Unseen Data)</a:t>
            </a:r>
            <a:endParaRPr lang="en-IN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48800" y="6488409"/>
            <a:ext cx="2743200" cy="365125"/>
          </a:xfrm>
        </p:spPr>
        <p:txBody>
          <a:bodyPr/>
          <a:lstStyle/>
          <a:p>
            <a:fld id="{0D4E1C38-3CEC-4044-AA06-B8BB3A06D0AA}" type="slidenum">
              <a:rPr lang="en-IN" smtClean="0"/>
              <a:t>8</a:t>
            </a:fld>
            <a:endParaRPr lang="en-IN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38200" y="996473"/>
            <a:ext cx="10568940" cy="2286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6225540"/>
            <a:ext cx="12192000" cy="21429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/>
              <a:t>Credit Card Fraud Detection System </a:t>
            </a:r>
            <a:r>
              <a:rPr lang="en-IN" sz="1000" dirty="0" smtClean="0"/>
              <a:t>			        							              Confidential</a:t>
            </a:r>
            <a:endParaRPr lang="en-IN" sz="1000" dirty="0"/>
          </a:p>
        </p:txBody>
      </p:sp>
      <p:pic>
        <p:nvPicPr>
          <p:cNvPr id="7" name="Picture 2" descr="Media Ki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1446"/>
            <a:ext cx="575310" cy="40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2"/>
          <p:cNvSpPr/>
          <p:nvPr/>
        </p:nvSpPr>
        <p:spPr>
          <a:xfrm>
            <a:off x="1280160" y="1333500"/>
            <a:ext cx="4320000" cy="46101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 err="1" smtClean="0">
                <a:solidFill>
                  <a:schemeClr val="bg1"/>
                </a:solidFill>
              </a:rPr>
              <a:t>XGBoost</a:t>
            </a:r>
            <a:r>
              <a:rPr lang="en-IN" sz="2000" b="1" dirty="0" smtClean="0">
                <a:solidFill>
                  <a:schemeClr val="bg1"/>
                </a:solidFill>
              </a:rPr>
              <a:t> Results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280160" y="2000250"/>
            <a:ext cx="4320000" cy="1152000"/>
          </a:xfrm>
          <a:prstGeom prst="round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IN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r>
              <a:rPr lang="en-IN" sz="1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ROC-AUC</a:t>
            </a:r>
            <a:endParaRPr lang="en-IN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IN" sz="2800" b="1" dirty="0" smtClean="0">
                <a:solidFill>
                  <a:schemeClr val="accent5">
                    <a:lumMod val="75000"/>
                  </a:schemeClr>
                </a:solidFill>
              </a:rPr>
              <a:t>	</a:t>
            </a:r>
            <a:r>
              <a:rPr lang="en-IN" sz="3200" b="1" dirty="0" smtClean="0">
                <a:solidFill>
                  <a:schemeClr val="accent5">
                    <a:lumMod val="75000"/>
                  </a:schemeClr>
                </a:solidFill>
              </a:rPr>
              <a:t>0.9937</a:t>
            </a:r>
            <a:endParaRPr lang="en-IN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280160" y="3357990"/>
            <a:ext cx="4320000" cy="1152000"/>
          </a:xfrm>
          <a:prstGeom prst="round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IN" sz="1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	Fraud Recall</a:t>
            </a:r>
          </a:p>
          <a:p>
            <a:pPr>
              <a:spcBef>
                <a:spcPts val="600"/>
              </a:spcBef>
            </a:pPr>
            <a:r>
              <a:rPr lang="en-IN" sz="3200" b="1" dirty="0" smtClean="0">
                <a:solidFill>
                  <a:schemeClr val="accent5">
                    <a:lumMod val="75000"/>
                  </a:schemeClr>
                </a:solidFill>
              </a:rPr>
              <a:t>	67</a:t>
            </a:r>
            <a:r>
              <a:rPr lang="en-IN" sz="3200" b="1" dirty="0">
                <a:solidFill>
                  <a:schemeClr val="accent5">
                    <a:lumMod val="75000"/>
                  </a:schemeClr>
                </a:solidFill>
              </a:rPr>
              <a:t>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0160" y="4715730"/>
            <a:ext cx="4320000" cy="1152000"/>
          </a:xfrm>
          <a:prstGeom prst="round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	Fraud Precision</a:t>
            </a:r>
          </a:p>
          <a:p>
            <a:pPr>
              <a:spcBef>
                <a:spcPts val="600"/>
              </a:spcBef>
            </a:pPr>
            <a:r>
              <a:rPr lang="en-IN" sz="3200" b="1" dirty="0" smtClean="0">
                <a:solidFill>
                  <a:schemeClr val="accent5">
                    <a:lumMod val="75000"/>
                  </a:schemeClr>
                </a:solidFill>
              </a:rPr>
              <a:t>	67</a:t>
            </a:r>
            <a:r>
              <a:rPr lang="en-IN" sz="3200" b="1" dirty="0">
                <a:solidFill>
                  <a:schemeClr val="accent5">
                    <a:lumMod val="75000"/>
                  </a:schemeClr>
                </a:solidFill>
              </a:rPr>
              <a:t>%</a:t>
            </a:r>
          </a:p>
        </p:txBody>
      </p:sp>
      <p:sp>
        <p:nvSpPr>
          <p:cNvPr id="12" name="Oval 11"/>
          <p:cNvSpPr/>
          <p:nvPr/>
        </p:nvSpPr>
        <p:spPr>
          <a:xfrm>
            <a:off x="1524000" y="2280791"/>
            <a:ext cx="594360" cy="586740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/>
          <p:cNvSpPr/>
          <p:nvPr/>
        </p:nvSpPr>
        <p:spPr>
          <a:xfrm>
            <a:off x="1524000" y="3635687"/>
            <a:ext cx="594360" cy="586740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/>
          <p:cNvSpPr/>
          <p:nvPr/>
        </p:nvSpPr>
        <p:spPr>
          <a:xfrm>
            <a:off x="1524000" y="4998360"/>
            <a:ext cx="594360" cy="586740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1581150" y="5051700"/>
            <a:ext cx="480060" cy="48006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1623060" y="3730937"/>
            <a:ext cx="396240" cy="39624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680209" y="2443418"/>
            <a:ext cx="291465" cy="29146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65720" y="1935480"/>
            <a:ext cx="2366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7802880" y="1800195"/>
            <a:ext cx="20916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/>
              <a:t>Confusion Matrix</a:t>
            </a:r>
            <a:endParaRPr lang="en-IN" sz="2000" b="1" dirty="0"/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224660"/>
              </p:ext>
            </p:extLst>
          </p:nvPr>
        </p:nvGraphicFramePr>
        <p:xfrm>
          <a:off x="6904725" y="2796623"/>
          <a:ext cx="3888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/>
                <a:gridCol w="1296000"/>
                <a:gridCol w="1296000"/>
              </a:tblGrid>
              <a:tr h="864000">
                <a:tc>
                  <a:txBody>
                    <a:bodyPr/>
                    <a:lstStyle/>
                    <a:p>
                      <a:pPr algn="ctr"/>
                      <a:endParaRPr lang="en-IN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 smtClean="0">
                          <a:solidFill>
                            <a:schemeClr val="bg1"/>
                          </a:solidFill>
                        </a:rPr>
                        <a:t>Predicted Non-Fraud</a:t>
                      </a:r>
                      <a:endParaRPr lang="en-IN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 smtClean="0">
                          <a:solidFill>
                            <a:schemeClr val="bg1"/>
                          </a:solidFill>
                        </a:rPr>
                        <a:t>Predicted Fraud</a:t>
                      </a:r>
                      <a:endParaRPr lang="en-IN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Actual </a:t>
                      </a:r>
                    </a:p>
                    <a:p>
                      <a:pPr marL="0" algn="ctr" defTabSz="914400" rtl="0" eaLnBrk="1" latinLnBrk="0" hangingPunct="1"/>
                      <a:r>
                        <a:rPr lang="en-IN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Non-Fraud</a:t>
                      </a:r>
                      <a:endParaRPr lang="en-IN" sz="1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552,871</a:t>
                      </a:r>
                      <a:endParaRPr lang="en-IN" sz="1500" b="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703</a:t>
                      </a:r>
                      <a:endParaRPr lang="en-IN" sz="15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FCDCD"/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Actual </a:t>
                      </a:r>
                    </a:p>
                    <a:p>
                      <a:pPr marL="0" algn="ctr" defTabSz="914400" rtl="0" eaLnBrk="1" latinLnBrk="0" hangingPunct="1"/>
                      <a:r>
                        <a:rPr lang="en-IN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Fraud</a:t>
                      </a:r>
                      <a:endParaRPr lang="en-IN" sz="1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en-IN" sz="15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FCD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1,445</a:t>
                      </a:r>
                      <a:endParaRPr lang="en-IN" sz="1500" b="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4621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3675"/>
            <a:ext cx="10515600" cy="747395"/>
          </a:xfrm>
        </p:spPr>
        <p:txBody>
          <a:bodyPr>
            <a:normAutofit/>
          </a:bodyPr>
          <a:lstStyle/>
          <a:p>
            <a:r>
              <a:rPr lang="en-IN" sz="3200" b="1" dirty="0" smtClean="0">
                <a:solidFill>
                  <a:schemeClr val="accent5">
                    <a:lumMod val="7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   Cost Benefit Analysis</a:t>
            </a:r>
            <a:endParaRPr lang="en-IN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48800" y="6488409"/>
            <a:ext cx="2743200" cy="365125"/>
          </a:xfrm>
        </p:spPr>
        <p:txBody>
          <a:bodyPr/>
          <a:lstStyle/>
          <a:p>
            <a:fld id="{0D4E1C38-3CEC-4044-AA06-B8BB3A06D0AA}" type="slidenum">
              <a:rPr lang="en-IN" smtClean="0"/>
              <a:t>9</a:t>
            </a:fld>
            <a:endParaRPr lang="en-IN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38200" y="996473"/>
            <a:ext cx="10568940" cy="2286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6225540"/>
            <a:ext cx="12192000" cy="21429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/>
              <a:t>Credit Card Fraud Detection System </a:t>
            </a:r>
            <a:r>
              <a:rPr lang="en-IN" sz="1000" dirty="0" smtClean="0"/>
              <a:t>			        							              Confidential</a:t>
            </a:r>
            <a:endParaRPr lang="en-IN" sz="1000" dirty="0"/>
          </a:p>
        </p:txBody>
      </p:sp>
      <p:pic>
        <p:nvPicPr>
          <p:cNvPr id="7" name="Picture 2" descr="Media Ki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1446"/>
            <a:ext cx="575310" cy="40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7"/>
          <p:cNvSpPr/>
          <p:nvPr/>
        </p:nvSpPr>
        <p:spPr>
          <a:xfrm>
            <a:off x="1333500" y="1455420"/>
            <a:ext cx="4690110" cy="1478280"/>
          </a:xfrm>
          <a:prstGeom prst="roundRect">
            <a:avLst/>
          </a:prstGeom>
          <a:solidFill>
            <a:srgbClr val="FFE5E5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en-IN" sz="1600" dirty="0" smtClean="0">
                <a:solidFill>
                  <a:srgbClr val="FF0000"/>
                </a:solidFill>
              </a:rPr>
              <a:t>Monthly Loss</a:t>
            </a:r>
            <a:endParaRPr lang="en-IN" sz="1050" dirty="0">
              <a:solidFill>
                <a:srgbClr val="FF0000"/>
              </a:solidFill>
            </a:endParaRPr>
          </a:p>
          <a:p>
            <a:pPr algn="ctr">
              <a:spcBef>
                <a:spcPts val="600"/>
              </a:spcBef>
            </a:pPr>
            <a:r>
              <a:rPr lang="en-IN" sz="4400" b="1" dirty="0" smtClean="0">
                <a:solidFill>
                  <a:srgbClr val="FF0000"/>
                </a:solidFill>
              </a:rPr>
              <a:t>$207,917</a:t>
            </a:r>
            <a:endParaRPr lang="en-IN" sz="44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16739" y="1116866"/>
            <a:ext cx="13479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 smtClean="0"/>
              <a:t>Before Model</a:t>
            </a:r>
            <a:endParaRPr lang="en-IN" sz="1600" b="1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67100" y="2946877"/>
            <a:ext cx="422910" cy="32537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521443" y="3200510"/>
            <a:ext cx="2314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 smtClean="0"/>
              <a:t>After Model Deployment</a:t>
            </a:r>
            <a:endParaRPr lang="en-IN" sz="1600" b="1" dirty="0"/>
          </a:p>
        </p:txBody>
      </p:sp>
      <p:sp>
        <p:nvSpPr>
          <p:cNvPr id="16" name="Rounded Rectangle 15"/>
          <p:cNvSpPr/>
          <p:nvPr/>
        </p:nvSpPr>
        <p:spPr>
          <a:xfrm>
            <a:off x="1333500" y="3525887"/>
            <a:ext cx="4690110" cy="258784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b="1" dirty="0" smtClean="0">
                <a:solidFill>
                  <a:schemeClr val="accent5">
                    <a:lumMod val="75000"/>
                  </a:schemeClr>
                </a:solidFill>
              </a:rPr>
              <a:t>Cost Breakdown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621908" y="4050188"/>
            <a:ext cx="4137660" cy="52197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ounded Rectangle 29"/>
          <p:cNvSpPr/>
          <p:nvPr/>
        </p:nvSpPr>
        <p:spPr>
          <a:xfrm>
            <a:off x="1667628" y="4050188"/>
            <a:ext cx="4091940" cy="5219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Authentication </a:t>
            </a:r>
            <a:r>
              <a:rPr lang="en-IN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Cost		                  $399</a:t>
            </a:r>
            <a:endParaRPr lang="en-IN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621908" y="4683969"/>
            <a:ext cx="4137660" cy="52197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ounded Rectangle 31"/>
          <p:cNvSpPr/>
          <p:nvPr/>
        </p:nvSpPr>
        <p:spPr>
          <a:xfrm>
            <a:off x="1667628" y="4683969"/>
            <a:ext cx="4091940" cy="5219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Undetected Fraud </a:t>
            </a:r>
            <a:r>
              <a:rPr lang="en-IN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Cost		             $67,843</a:t>
            </a:r>
            <a:endParaRPr lang="en-IN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>
            <a:off x="1633913" y="5317750"/>
            <a:ext cx="4125655" cy="2006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633913" y="5445811"/>
            <a:ext cx="4125655" cy="52197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5">
                    <a:lumMod val="75000"/>
                  </a:schemeClr>
                </a:solidFill>
              </a:rPr>
              <a:t>Total Cost After </a:t>
            </a:r>
            <a:r>
              <a:rPr lang="en-IN" sz="1600" b="1" dirty="0" smtClean="0">
                <a:solidFill>
                  <a:schemeClr val="accent5">
                    <a:lumMod val="75000"/>
                  </a:schemeClr>
                </a:solidFill>
              </a:rPr>
              <a:t>Model	          $68,242</a:t>
            </a:r>
            <a:endParaRPr lang="en-IN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138160" y="2103333"/>
            <a:ext cx="20535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Final Monthly Savings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8947785" y="1785040"/>
            <a:ext cx="434340" cy="43434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7046595" y="2659380"/>
            <a:ext cx="4236720" cy="2208524"/>
          </a:xfrm>
          <a:prstGeom prst="roundRect">
            <a:avLst>
              <a:gd name="adj" fmla="val 6090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>
                <a:solidFill>
                  <a:schemeClr val="accent6">
                    <a:lumMod val="75000"/>
                  </a:schemeClr>
                </a:solidFill>
              </a:rPr>
              <a:t>Monthly Savings:</a:t>
            </a:r>
          </a:p>
          <a:p>
            <a:pPr algn="ctr"/>
            <a:endParaRPr lang="en-IN" sz="1400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IN" sz="4400" b="1" dirty="0" smtClean="0">
                <a:solidFill>
                  <a:schemeClr val="accent6">
                    <a:lumMod val="75000"/>
                  </a:schemeClr>
                </a:solidFill>
              </a:rPr>
              <a:t>$139,675</a:t>
            </a:r>
          </a:p>
          <a:p>
            <a:pPr algn="ctr"/>
            <a:endParaRPr lang="en-IN" sz="1400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IN" sz="2000" b="1" dirty="0" smtClean="0">
                <a:solidFill>
                  <a:schemeClr val="accent6">
                    <a:lumMod val="50000"/>
                  </a:schemeClr>
                </a:solidFill>
              </a:rPr>
              <a:t>~ $1.67M per year</a:t>
            </a:r>
            <a:endParaRPr lang="en-IN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7040880" y="5127016"/>
            <a:ext cx="4248150" cy="71247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accent2">
                    <a:lumMod val="75000"/>
                  </a:schemeClr>
                </a:solidFill>
              </a:rPr>
              <a:t>67% Reduction in Fraud Losses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74256" y="5327780"/>
            <a:ext cx="302934" cy="30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82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3675"/>
            <a:ext cx="10515600" cy="747395"/>
          </a:xfrm>
        </p:spPr>
        <p:txBody>
          <a:bodyPr>
            <a:normAutofit/>
          </a:bodyPr>
          <a:lstStyle/>
          <a:p>
            <a:r>
              <a:rPr lang="en-IN" sz="3200" b="1" dirty="0" smtClean="0">
                <a:solidFill>
                  <a:schemeClr val="accent5">
                    <a:lumMod val="7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   Key Business Impact</a:t>
            </a:r>
            <a:endParaRPr lang="en-IN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48800" y="6488409"/>
            <a:ext cx="2743200" cy="365125"/>
          </a:xfrm>
        </p:spPr>
        <p:txBody>
          <a:bodyPr/>
          <a:lstStyle/>
          <a:p>
            <a:fld id="{0D4E1C38-3CEC-4044-AA06-B8BB3A06D0AA}" type="slidenum">
              <a:rPr lang="en-IN" smtClean="0"/>
              <a:t>10</a:t>
            </a:fld>
            <a:endParaRPr lang="en-IN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38200" y="996473"/>
            <a:ext cx="10568940" cy="2286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6225540"/>
            <a:ext cx="12192000" cy="21429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/>
              <a:t>Credit Card Fraud Detection System </a:t>
            </a:r>
            <a:r>
              <a:rPr lang="en-IN" sz="1000" dirty="0" smtClean="0"/>
              <a:t>			        							              Confidential</a:t>
            </a:r>
            <a:endParaRPr lang="en-IN" sz="1000" dirty="0"/>
          </a:p>
        </p:txBody>
      </p:sp>
      <p:pic>
        <p:nvPicPr>
          <p:cNvPr id="7" name="Picture 2" descr="Media Ki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1446"/>
            <a:ext cx="575310" cy="40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9"/>
          <p:cNvSpPr/>
          <p:nvPr/>
        </p:nvSpPr>
        <p:spPr>
          <a:xfrm>
            <a:off x="1367790" y="2667000"/>
            <a:ext cx="4732020" cy="150495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ounded Rectangle 26"/>
          <p:cNvSpPr/>
          <p:nvPr/>
        </p:nvSpPr>
        <p:spPr>
          <a:xfrm>
            <a:off x="1463040" y="2667000"/>
            <a:ext cx="4659630" cy="15049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r>
              <a:rPr lang="en-IN" sz="2400" b="1" dirty="0">
                <a:solidFill>
                  <a:schemeClr val="accent6">
                    <a:lumMod val="75000"/>
                  </a:schemeClr>
                </a:solidFill>
              </a:rPr>
              <a:t>Significant Fraud Loss Reduction</a:t>
            </a:r>
            <a:endParaRPr lang="en-IN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598920" y="2667000"/>
            <a:ext cx="4732020" cy="150495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ounded Rectangle 28"/>
          <p:cNvSpPr/>
          <p:nvPr/>
        </p:nvSpPr>
        <p:spPr>
          <a:xfrm>
            <a:off x="6694170" y="2667000"/>
            <a:ext cx="4659630" cy="15049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Strong Generalization on Unseen Data</a:t>
            </a:r>
            <a:endParaRPr lang="en-IN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394460" y="4446270"/>
            <a:ext cx="4732020" cy="150495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ounded Rectangle 35"/>
          <p:cNvSpPr/>
          <p:nvPr/>
        </p:nvSpPr>
        <p:spPr>
          <a:xfrm>
            <a:off x="1489710" y="4446270"/>
            <a:ext cx="4659630" cy="15049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 smtClean="0">
                <a:solidFill>
                  <a:schemeClr val="accent6">
                    <a:lumMod val="75000"/>
                  </a:schemeClr>
                </a:solidFill>
              </a:rPr>
              <a:t>	High ROI</a:t>
            </a:r>
            <a:endParaRPr lang="en-IN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598920" y="4446270"/>
            <a:ext cx="4732020" cy="150495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ounded Rectangle 37"/>
          <p:cNvSpPr/>
          <p:nvPr/>
        </p:nvSpPr>
        <p:spPr>
          <a:xfrm>
            <a:off x="6694170" y="4446270"/>
            <a:ext cx="4659630" cy="15049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 smtClean="0">
                <a:solidFill>
                  <a:schemeClr val="accent6">
                    <a:lumMod val="75000"/>
                  </a:schemeClr>
                </a:solidFill>
              </a:rPr>
              <a:t>	Scalable</a:t>
            </a:r>
            <a:r>
              <a:rPr lang="en-IN" sz="2400" b="1" dirty="0">
                <a:solidFill>
                  <a:schemeClr val="accent6">
                    <a:lumMod val="75000"/>
                  </a:schemeClr>
                </a:solidFill>
              </a:rPr>
              <a:t> to Production</a:t>
            </a:r>
            <a:endParaRPr lang="en-IN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37360" y="3090068"/>
            <a:ext cx="647700" cy="647700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38010" y="3094673"/>
            <a:ext cx="647700" cy="6477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37360" y="4874895"/>
            <a:ext cx="647700" cy="64770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38010" y="4874895"/>
            <a:ext cx="647700" cy="647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86073" y="1894106"/>
            <a:ext cx="60198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Model provides measurable financial impact and strong generalization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87826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3675"/>
            <a:ext cx="10515600" cy="747395"/>
          </a:xfrm>
        </p:spPr>
        <p:txBody>
          <a:bodyPr>
            <a:normAutofit/>
          </a:bodyPr>
          <a:lstStyle/>
          <a:p>
            <a:r>
              <a:rPr lang="en-IN" sz="3200" b="1" dirty="0" smtClean="0">
                <a:solidFill>
                  <a:schemeClr val="accent5">
                    <a:lumMod val="7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   Recommendations</a:t>
            </a:r>
            <a:endParaRPr lang="en-IN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48800" y="6488409"/>
            <a:ext cx="2743200" cy="365125"/>
          </a:xfrm>
        </p:spPr>
        <p:txBody>
          <a:bodyPr/>
          <a:lstStyle/>
          <a:p>
            <a:fld id="{0D4E1C38-3CEC-4044-AA06-B8BB3A06D0AA}" type="slidenum">
              <a:rPr lang="en-IN" smtClean="0"/>
              <a:t>11</a:t>
            </a:fld>
            <a:endParaRPr lang="en-IN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38200" y="996473"/>
            <a:ext cx="10568940" cy="2286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6225540"/>
            <a:ext cx="12192000" cy="21429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/>
              <a:t>Credit Card Fraud Detection System </a:t>
            </a:r>
            <a:r>
              <a:rPr lang="en-IN" sz="1000" dirty="0" smtClean="0"/>
              <a:t>			        							              Confidential</a:t>
            </a:r>
            <a:endParaRPr lang="en-IN" sz="1000" dirty="0"/>
          </a:p>
        </p:txBody>
      </p:sp>
      <p:pic>
        <p:nvPicPr>
          <p:cNvPr id="7" name="Picture 2" descr="Media Ki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1446"/>
            <a:ext cx="575310" cy="40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2"/>
          <p:cNvSpPr/>
          <p:nvPr/>
        </p:nvSpPr>
        <p:spPr>
          <a:xfrm>
            <a:off x="4537710" y="2020890"/>
            <a:ext cx="3116580" cy="449580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smtClean="0"/>
              <a:t>          Implementation Roadmap</a:t>
            </a:r>
            <a:endParaRPr lang="en-IN" sz="1600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4770120" y="2074230"/>
            <a:ext cx="342900" cy="3429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03910" y="2975610"/>
            <a:ext cx="2520000" cy="2520000"/>
          </a:xfrm>
          <a:prstGeom prst="roundRect">
            <a:avLst>
              <a:gd name="adj" fmla="val 8049"/>
            </a:avLst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endParaRPr lang="en-IN" sz="16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algn="ctr">
              <a:spcBef>
                <a:spcPts val="1200"/>
              </a:spcBef>
            </a:pPr>
            <a:endParaRPr lang="en-IN" sz="1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>
              <a:spcBef>
                <a:spcPts val="1200"/>
              </a:spcBef>
            </a:pPr>
            <a:r>
              <a:rPr lang="en-IN" sz="1600" b="1" dirty="0" smtClean="0">
                <a:solidFill>
                  <a:schemeClr val="accent5">
                    <a:lumMod val="75000"/>
                  </a:schemeClr>
                </a:solidFill>
              </a:rPr>
              <a:t>Deploy </a:t>
            </a:r>
            <a:r>
              <a:rPr lang="en-IN" sz="1600" b="1" dirty="0" err="1" smtClean="0">
                <a:solidFill>
                  <a:schemeClr val="accent5">
                    <a:lumMod val="75000"/>
                  </a:schemeClr>
                </a:solidFill>
              </a:rPr>
              <a:t>XGBoost</a:t>
            </a:r>
            <a:endParaRPr lang="en-IN" sz="1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>
              <a:spcBef>
                <a:spcPts val="1200"/>
              </a:spcBef>
            </a:pP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With optimized decision threshold</a:t>
            </a:r>
            <a:endParaRPr lang="en-IN" sz="1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657317" y="2975610"/>
            <a:ext cx="2520000" cy="2520000"/>
          </a:xfrm>
          <a:prstGeom prst="roundRect">
            <a:avLst>
              <a:gd name="adj" fmla="val 7747"/>
            </a:avLst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endParaRPr lang="en-IN" sz="16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algn="ctr">
              <a:spcBef>
                <a:spcPts val="1200"/>
              </a:spcBef>
            </a:pPr>
            <a:endParaRPr lang="en-IN" sz="1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>
              <a:spcBef>
                <a:spcPts val="1200"/>
              </a:spcBef>
            </a:pPr>
            <a:r>
              <a:rPr lang="en-IN" sz="1600" b="1" dirty="0" smtClean="0">
                <a:solidFill>
                  <a:schemeClr val="accent5">
                    <a:lumMod val="75000"/>
                  </a:schemeClr>
                </a:solidFill>
              </a:rPr>
              <a:t>Monitor Fraud Drift</a:t>
            </a:r>
          </a:p>
          <a:p>
            <a:pPr algn="ctr">
              <a:spcBef>
                <a:spcPts val="1200"/>
              </a:spcBef>
            </a:pP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Monthly monitoring and analysis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9230" y="2975610"/>
            <a:ext cx="2520000" cy="2520000"/>
          </a:xfrm>
          <a:prstGeom prst="roundRect">
            <a:avLst>
              <a:gd name="adj" fmla="val 5630"/>
            </a:avLst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endParaRPr lang="en-IN" sz="16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algn="ctr">
              <a:spcBef>
                <a:spcPts val="1200"/>
              </a:spcBef>
            </a:pPr>
            <a:endParaRPr lang="en-IN" sz="1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>
              <a:spcBef>
                <a:spcPts val="1200"/>
              </a:spcBef>
            </a:pPr>
            <a:r>
              <a:rPr lang="en-IN" sz="1600" b="1" dirty="0" smtClean="0">
                <a:solidFill>
                  <a:schemeClr val="accent5">
                    <a:lumMod val="75000"/>
                  </a:schemeClr>
                </a:solidFill>
              </a:rPr>
              <a:t>Retrain </a:t>
            </a:r>
            <a:r>
              <a:rPr lang="en-IN" sz="1600" b="1" dirty="0">
                <a:solidFill>
                  <a:schemeClr val="accent5">
                    <a:lumMod val="75000"/>
                  </a:schemeClr>
                </a:solidFill>
              </a:rPr>
              <a:t>Model</a:t>
            </a:r>
          </a:p>
          <a:p>
            <a:pPr algn="ctr">
              <a:spcBef>
                <a:spcPts val="1200"/>
              </a:spcBef>
            </a:pPr>
            <a:r>
              <a:rPr lang="en-IN" sz="1200" dirty="0">
                <a:solidFill>
                  <a:schemeClr val="bg2">
                    <a:lumMod val="25000"/>
                  </a:schemeClr>
                </a:solidFill>
              </a:rPr>
              <a:t>Quarterly model retraining </a:t>
            </a:r>
            <a:r>
              <a:rPr lang="en-IN" sz="1200" dirty="0" smtClean="0">
                <a:solidFill>
                  <a:schemeClr val="bg2">
                    <a:lumMod val="25000"/>
                  </a:schemeClr>
                </a:solidFill>
              </a:rPr>
              <a:t>cycle</a:t>
            </a:r>
            <a:endParaRPr lang="en-IN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436890" y="2975610"/>
            <a:ext cx="2520000" cy="2520000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endParaRPr lang="en-US" sz="16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algn="ctr">
              <a:spcBef>
                <a:spcPts val="1200"/>
              </a:spcBef>
            </a:pPr>
            <a:endParaRPr 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>
              <a:spcBef>
                <a:spcPts val="1200"/>
              </a:spcBef>
            </a:pPr>
            <a:endParaRPr lang="en-US" sz="16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algn="ctr">
              <a:spcBef>
                <a:spcPts val="1200"/>
              </a:spcBef>
            </a:pPr>
            <a:r>
              <a:rPr lang="en-US" sz="1600" b="1" dirty="0" smtClean="0">
                <a:solidFill>
                  <a:schemeClr val="accent5">
                    <a:lumMod val="75000"/>
                  </a:schemeClr>
                </a:solidFill>
              </a:rPr>
              <a:t>Real-Time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Scoring</a:t>
            </a:r>
          </a:p>
          <a:p>
            <a:pPr algn="ctr">
              <a:spcBef>
                <a:spcPts val="1200"/>
              </a:spcBef>
            </a:pP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Add live transaction scoring</a:t>
            </a:r>
          </a:p>
          <a:p>
            <a:pPr algn="ctr">
              <a:spcBef>
                <a:spcPts val="1200"/>
              </a:spcBef>
            </a:pPr>
            <a:endParaRPr lang="en-IN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5" name="Straight Arrow Connector 14"/>
          <p:cNvCxnSpPr>
            <a:stCxn id="13" idx="3"/>
            <a:endCxn id="24" idx="1"/>
          </p:cNvCxnSpPr>
          <p:nvPr/>
        </p:nvCxnSpPr>
        <p:spPr>
          <a:xfrm>
            <a:off x="3323910" y="4235610"/>
            <a:ext cx="333407" cy="0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6177317" y="4235610"/>
            <a:ext cx="357660" cy="0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9079230" y="4299270"/>
            <a:ext cx="357660" cy="0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689815" y="3288621"/>
            <a:ext cx="748189" cy="75057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81981" y="3484993"/>
            <a:ext cx="363855" cy="363855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4567475" y="3291840"/>
            <a:ext cx="748189" cy="75057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70120" y="3478964"/>
            <a:ext cx="370088" cy="370088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7445135" y="3291840"/>
            <a:ext cx="748189" cy="75057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09679" y="3454458"/>
            <a:ext cx="419100" cy="419100"/>
          </a:xfrm>
          <a:prstGeom prst="rect">
            <a:avLst/>
          </a:prstGeom>
        </p:spPr>
      </p:pic>
      <p:sp>
        <p:nvSpPr>
          <p:cNvPr id="42" name="Oval 41"/>
          <p:cNvSpPr/>
          <p:nvPr/>
        </p:nvSpPr>
        <p:spPr>
          <a:xfrm>
            <a:off x="10322795" y="3291840"/>
            <a:ext cx="748189" cy="75057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515600" y="3478964"/>
            <a:ext cx="369884" cy="36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949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3675"/>
            <a:ext cx="10515600" cy="747395"/>
          </a:xfrm>
        </p:spPr>
        <p:txBody>
          <a:bodyPr>
            <a:normAutofit/>
          </a:bodyPr>
          <a:lstStyle/>
          <a:p>
            <a:r>
              <a:rPr lang="en-IN" sz="3200" b="1" dirty="0" smtClean="0">
                <a:solidFill>
                  <a:schemeClr val="accent5">
                    <a:lumMod val="75000"/>
                  </a:schemeClr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   Conclusion</a:t>
            </a:r>
            <a:endParaRPr lang="en-IN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48800" y="6488409"/>
            <a:ext cx="2743200" cy="365125"/>
          </a:xfrm>
        </p:spPr>
        <p:txBody>
          <a:bodyPr/>
          <a:lstStyle/>
          <a:p>
            <a:fld id="{0D4E1C38-3CEC-4044-AA06-B8BB3A06D0AA}" type="slidenum">
              <a:rPr lang="en-IN" smtClean="0"/>
              <a:t>12</a:t>
            </a:fld>
            <a:endParaRPr lang="en-IN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38200" y="996473"/>
            <a:ext cx="10568940" cy="2286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6225540"/>
            <a:ext cx="12192000" cy="21429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/>
              <a:t>Credit Card Fraud Detection System </a:t>
            </a:r>
            <a:r>
              <a:rPr lang="en-IN" sz="1000" dirty="0" smtClean="0"/>
              <a:t>			        							              Confidential</a:t>
            </a:r>
            <a:endParaRPr lang="en-IN" sz="1000" dirty="0"/>
          </a:p>
        </p:txBody>
      </p:sp>
      <p:pic>
        <p:nvPicPr>
          <p:cNvPr id="7" name="Picture 2" descr="Media Ki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1446"/>
            <a:ext cx="575310" cy="40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870363" y="1130735"/>
            <a:ext cx="2801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fraud detection system: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87780" y="1617741"/>
            <a:ext cx="4732020" cy="150495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ounded Rectangle 27"/>
          <p:cNvSpPr/>
          <p:nvPr/>
        </p:nvSpPr>
        <p:spPr>
          <a:xfrm>
            <a:off x="1383030" y="1617741"/>
            <a:ext cx="4659630" cy="1504950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Achieves high predictive performance</a:t>
            </a:r>
            <a:endParaRPr lang="en-IN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518910" y="1617741"/>
            <a:ext cx="4732020" cy="150495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ounded Rectangle 33"/>
          <p:cNvSpPr/>
          <p:nvPr/>
        </p:nvSpPr>
        <p:spPr>
          <a:xfrm>
            <a:off x="6614160" y="1617741"/>
            <a:ext cx="4659630" cy="150495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Reduces financial risk significantly</a:t>
            </a:r>
            <a:endParaRPr lang="en-IN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314450" y="3397011"/>
            <a:ext cx="4732020" cy="150495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ounded Rectangle 36"/>
          <p:cNvSpPr/>
          <p:nvPr/>
        </p:nvSpPr>
        <p:spPr>
          <a:xfrm>
            <a:off x="1409700" y="3397011"/>
            <a:ext cx="4659630" cy="150495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Demonstrates 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strong </a:t>
            </a: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	business 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ROI</a:t>
            </a:r>
            <a:endParaRPr lang="en-IN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518910" y="3397011"/>
            <a:ext cx="4732020" cy="150495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ounded Rectangle 38"/>
          <p:cNvSpPr/>
          <p:nvPr/>
        </p:nvSpPr>
        <p:spPr>
          <a:xfrm>
            <a:off x="6614160" y="3397011"/>
            <a:ext cx="4659630" cy="1504950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 smtClean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en-IN" sz="2000" b="1" dirty="0" smtClean="0">
                <a:solidFill>
                  <a:schemeClr val="accent5">
                    <a:lumMod val="75000"/>
                  </a:schemeClr>
                </a:solidFill>
              </a:rPr>
              <a:t>Is production-ready</a:t>
            </a:r>
            <a:endParaRPr lang="en-IN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1614725" y="1997589"/>
            <a:ext cx="748189" cy="75057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1819212" y="2184713"/>
            <a:ext cx="370088" cy="370088"/>
          </a:xfrm>
          <a:prstGeom prst="rect">
            <a:avLst/>
          </a:prstGeom>
        </p:spPr>
      </p:pic>
      <p:sp>
        <p:nvSpPr>
          <p:cNvPr id="52" name="Oval 51"/>
          <p:cNvSpPr/>
          <p:nvPr/>
        </p:nvSpPr>
        <p:spPr>
          <a:xfrm>
            <a:off x="6822995" y="1994472"/>
            <a:ext cx="748189" cy="75057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6972300" y="2167572"/>
            <a:ext cx="440054" cy="440054"/>
          </a:xfrm>
          <a:prstGeom prst="rect">
            <a:avLst/>
          </a:prstGeom>
        </p:spPr>
      </p:pic>
      <p:sp>
        <p:nvSpPr>
          <p:cNvPr id="54" name="Oval 53"/>
          <p:cNvSpPr/>
          <p:nvPr/>
        </p:nvSpPr>
        <p:spPr>
          <a:xfrm>
            <a:off x="1614724" y="3774201"/>
            <a:ext cx="748189" cy="75057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 flipH="1" flipV="1">
            <a:off x="1754883" y="3901955"/>
            <a:ext cx="495061" cy="495061"/>
          </a:xfrm>
          <a:prstGeom prst="rect">
            <a:avLst/>
          </a:prstGeom>
        </p:spPr>
      </p:pic>
      <p:sp>
        <p:nvSpPr>
          <p:cNvPr id="56" name="Oval 55"/>
          <p:cNvSpPr/>
          <p:nvPr/>
        </p:nvSpPr>
        <p:spPr>
          <a:xfrm>
            <a:off x="6822995" y="3774293"/>
            <a:ext cx="748189" cy="75057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7004684" y="3945650"/>
            <a:ext cx="407670" cy="407670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1291590" y="5182553"/>
            <a:ext cx="9959340" cy="99441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IN" dirty="0" smtClean="0"/>
              <a:t>	         </a:t>
            </a:r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</a:rPr>
              <a:t>Ready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for Deployment and Scalable Implementation</a:t>
            </a:r>
            <a:endParaRPr lang="en-IN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14724" y="5314026"/>
            <a:ext cx="748189" cy="74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37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1463</TotalTime>
  <Words>711</Words>
  <Application>Microsoft Office PowerPoint</Application>
  <PresentationFormat>Widescreen</PresentationFormat>
  <Paragraphs>257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 Unicode MS</vt:lpstr>
      <vt:lpstr>Arial</vt:lpstr>
      <vt:lpstr>Calibri</vt:lpstr>
      <vt:lpstr>Calibri Light</vt:lpstr>
      <vt:lpstr>Office Theme</vt:lpstr>
      <vt:lpstr>Credit Card Fraud Detection System   Machine Learning-Based Risk Optimization for Finex Bank</vt:lpstr>
      <vt:lpstr>Business Problem The Challenge </vt:lpstr>
      <vt:lpstr>Project Objective</vt:lpstr>
      <vt:lpstr>Project Workflow</vt:lpstr>
      <vt:lpstr>        Key Insights from EDA</vt:lpstr>
      <vt:lpstr>  Handling Class Imbalance</vt:lpstr>
      <vt:lpstr>  Model Comparison</vt:lpstr>
      <vt:lpstr>    Final External Test Performance          (Unseen Data)</vt:lpstr>
      <vt:lpstr>    Cost Benefit Analysis</vt:lpstr>
      <vt:lpstr>    Key Business Impact</vt:lpstr>
      <vt:lpstr>    Recommendations</vt:lpstr>
      <vt:lpstr>    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System   Machine Learning-Based Risk Optimization for Finex Bank</dc:title>
  <dc:creator>Tejashri Pilla</dc:creator>
  <cp:lastModifiedBy>Tejashri Pilla</cp:lastModifiedBy>
  <cp:revision>100</cp:revision>
  <dcterms:created xsi:type="dcterms:W3CDTF">2026-02-20T05:23:04Z</dcterms:created>
  <dcterms:modified xsi:type="dcterms:W3CDTF">2026-02-25T07:25:51Z</dcterms:modified>
</cp:coreProperties>
</file>